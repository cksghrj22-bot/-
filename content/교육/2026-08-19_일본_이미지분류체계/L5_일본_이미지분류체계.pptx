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워드월 10분으로 연다. 구글폼 2문항: ①이미지란 ______다 ②손님 이미지를 잘못 읽어 어긋났던 경험. 오늘의 주인공은 질문 화면이다.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 예상 질문. 한 줄 답 → 실제 사례 → 원리 한 장 순서로 답한다. '연예인 누구요?' 한 마디가 좌표를 확정시킨다는 것까지.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16칸 이름을 순서대로 읊게 하지 말 것. 그 순간 암기 과목이 된다. 축만 잡아주고 애들 손님 케이스를 즉석에서 올려본다.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얼굴형(윤곽)과 얼굴타입(인상)의 차이를 반드시 짚는다. 애들이 제일 많이 헷갈리는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외우게 하지 말 것. '안전선'이라는 개념만 남기면 된다. 어기는 판단이 L5의 일이라는 걸 다음 장에서 잇는다.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좁히면 어울리고, 벌리면 개성이 된다. 벌리는 건 L5의 영역 — 손님이 감당할 수 있을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다섯 칸이 오늘 수업의 전부다. 나머지는 이걸 굴리는 연습.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오늘의 핵심 케이스. 벌리는 판단 = 상담력 = L5 시험 기준. 여기서 시간을 제일 많이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오늘이 따로 노는 수업이 아니라는 걸 반드시 붙인다. 애들이 '이거 왜 배워요'를 안 묻게 되는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기준을 미리 공개한다. 축이 맞나 / 말을 그대로 옮겼나 / 거리 판단에 이유가 있나 / 변수 5개가 다 찼나.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워드월로 돌아간다. '지금 다시 쓰면, 이미지란 ______다?' 시작 화면과 비교. 남은 질문은 8/27 형용사 이론 소재로 회수.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F7F5F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229600" y="3291840"/>
            <a:ext cx="3474720" cy="0"/>
          </a:xfrm>
          <a:prstGeom prst="line">
            <a:avLst/>
          </a:prstGeom>
          <a:noFill/>
          <a:ln w="9525">
            <a:solidFill>
              <a:srgbClr val="3A34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6960" y="1554480"/>
            <a:ext cx="0" cy="3474720"/>
          </a:xfrm>
          <a:prstGeom prst="line">
            <a:avLst/>
          </a:prstGeom>
          <a:noFill/>
          <a:ln w="9525">
            <a:solidFill>
              <a:srgbClr val="3A34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81160" y="2606040"/>
            <a:ext cx="1371600" cy="137160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A889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8116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일본 </a:t>
            </a:r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이미지분류</a:t>
            </a:r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체계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777240" y="3977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손님의 말을 시술로 옮기는 번역기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· COOL · SOFT · HARD   |   CHILD · ADULT · CURVE · STRAIGHT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08. 19 (수)  07:30 – 09:30   ·   L5   ·   차노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561320" y="34747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이걸 배우는 이유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"청순하게 해주세요"는
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주문서가 아니다.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278892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말은 좌표다. 좌표로 옮기기 전까지 정해진 건 아무것도 없다.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단어를 손님과 내가 다른 그림으로 상상하는 순간, 그 시술은 이미 어긋나 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402336" cy="402336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감각을 말로 주고받기 위해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4142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일본이 이미지를 나눈 이유는 취향 놀이가 아니다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736592"/>
            <a:ext cx="402336" cy="402336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4736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4681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좌표가 없으면 상담은 매번 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983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좌표가 있으면 결과가 재현된다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577840"/>
            <a:ext cx="402336" cy="402336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5577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552297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시험 기준 = 상담력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58247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좌표를 말로 설명하는 게 곧 상담력이다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241280" y="52120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0" b="1" dirty="0">
                <a:solidFill>
                  <a:srgbClr val="E8E1D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561320" y="34747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언어 이미지 스케일 · NCD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손님이 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원하는 것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228600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일본컬러디자인연구소가 만든 색·형용사 좌표.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가로 WARM ↔ COOL, 세로 SOFT ↔ HARD.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보조축으로 CLEAR ↔ GRAYISH(맑음↔탁함)가 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형용사도 색도 질감도 전부 이 판 위에 얹힌다.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443484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A8895E"/>
            </a:solidFill>
          </a:ln>
        </p:spPr>
        <p:txBody>
          <a:bodyPr wrap="square" lIns="1778" tIns="1778" rIns="1778" bIns="1778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외울 것은 축뿐이다.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위는 밝고 가볍고 여리다 · 아래는 어둡고 무겁고 세다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왼쪽은 따뜻해 사람 냄새가 난다 · 오른쪽은 차갑고 정돈돼 있다</a:t>
            </a:r>
            <a:endParaRPr lang="en-US" sz="1300" dirty="0"/>
          </a:p>
        </p:txBody>
      </p:sp>
      <p:pic>
        <p:nvPicPr>
          <p:cNvPr id="9" name="Image 0" descr="/tmp/edu819/img/map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8928" y="1481328"/>
            <a:ext cx="64922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561320" y="34747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B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얼굴타입 8분류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손님이 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가진 것</a:t>
            </a:r>
            <a:endParaRPr lang="en-US" sz="3800" dirty="0"/>
          </a:p>
        </p:txBody>
      </p:sp>
      <p:pic>
        <p:nvPicPr>
          <p:cNvPr id="7" name="Image 0" descr="/tmp/edu819/img/map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40280"/>
            <a:ext cx="553212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0" y="22402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일본 미용에서 상담에 쓰는 얼굴 인상 좌표.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세로 아이 ↔ 어른, 가로 곡선 ↔ 직선.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040880" y="3063240"/>
            <a:ext cx="46634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A8895E"/>
            </a:solidFill>
          </a:ln>
        </p:spPr>
        <p:txBody>
          <a:bodyPr wrap="square" lIns="1778" tIns="1778" rIns="1778" bIns="1778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얼굴형이 아니라 얼굴 인상이다.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계란형·사각형 이야기가 아니다. 우리가 읽는 건 윤곽이 아니라 그 사람이 주는 인상이다.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040880" y="45262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손님이 자기 얼굴을 잘못 알고 있으면?
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"지금까지 제일 마음에 들었던 머리 사진 있으세요?"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과거 좌표가 미래 좌표보다 정확하다.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561320" y="34747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B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8타입 · 안전한 실루엣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어울림은 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안전선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이다</a:t>
            </a:r>
            <a:endParaRPr lang="en-US" sz="3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286000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828800"/>
                <a:gridCol w="3657600"/>
                <a:gridCol w="26517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40" kern="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40" kern="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40" kern="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안전한 실루엣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40" kern="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컬러 방향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큐트 · 아이×곡선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동글고 친근함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숏~세미 · 안말음 · 컬 앞머리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핑크 · 베이지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액티브 큐트 · 아이×곡선강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발랄·개성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숏~세미 · 뚜렷한 라인 · 일자뱅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오렌지 · 체리 · 블랙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프레시 · 아이×직선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산뜻·중성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숏~세미 · 스트레이트 / 겉말음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애쉬 · 베이지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쿨 캐주얼 · 아이×직선강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보이시·시크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울프 · 러프한 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한색 · 올리브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페미닌 · 어른×곡선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화사·여성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세미~롱 · 웨이브 · 컬 앞머리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베이지 · 로즈브라운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소프트 엘레강트 · 어른×중간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단정·부드러움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숏보브~세미 · 굵은 원컬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내추럴 · 애쉬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엘레강트 · 어른×직선약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또렷·세련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롱 · 큰 웨이브 · 앞머리 없음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브라운 계열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쿨 · 어른×직선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샤프·도회적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세미~롱 스트레이트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89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그레이 · 라벤더 그레이지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61447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안전을 알아야 의도적으로 어길 수 있다.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F7F5F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0" y="155448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6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0" y="2057400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판은 </a:t>
            </a:r>
            <a:pPr algn="ctr" indent="0" marL="0">
              <a:buNone/>
            </a:pPr>
            <a:r>
              <a:rPr lang="en-US" sz="42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같은 단어</a:t>
            </a:r>
            <a:pPr algn="ctr" indent="0" marL="0">
              <a:buNone/>
            </a:pPr>
            <a:r>
              <a:rPr lang="en-US" sz="42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를 쓴다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1216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엘레강트 · 캐주얼 · 쿨 — 겹치는 단어가 두 판을 잇는 다리다.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3703320"/>
            <a:ext cx="2651760" cy="1234440"/>
          </a:xfrm>
          <a:prstGeom prst="rect">
            <a:avLst/>
          </a:prstGeom>
          <a:solidFill>
            <a:srgbClr val="1C1A17"/>
          </a:solidFill>
          <a:ln w="9525">
            <a:solidFill>
              <a:srgbClr val="3A34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38404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46120" y="4114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원하는 것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46120" y="4526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손님의 동경 · 무드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3703320"/>
            <a:ext cx="2651760" cy="1234440"/>
          </a:xfrm>
          <a:prstGeom prst="rect">
            <a:avLst/>
          </a:prstGeom>
          <a:solidFill>
            <a:srgbClr val="1C1A17"/>
          </a:solidFill>
          <a:ln w="9525">
            <a:solidFill>
              <a:srgbClr val="3A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38404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판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263640" y="4114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가진 것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263640" y="4526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얼굴이 이미 말하는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8978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0" y="5349240"/>
            <a:ext cx="1216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디자인이란, 그 </a:t>
            </a:r>
            <a:pPr algn="ctr" indent="0" marL="0">
              <a:buNone/>
            </a:pPr>
            <a:r>
              <a:rPr lang="en-US" sz="2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거리</a:t>
            </a:r>
            <a:pPr algn="ctr" indent="0" marL="0">
              <a:buNone/>
            </a:pPr>
            <a:r>
              <a:rPr lang="en-US" sz="26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를 다루는 일이다.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561320" y="34747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전부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말 → 좌표 → 거리 → 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변수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확인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02920" y="2514600"/>
            <a:ext cx="566928" cy="56692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02920" y="367588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 단어를 그대로 받아적는다.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말로 바꾸지 않는다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61488" y="2514600"/>
            <a:ext cx="566928" cy="56692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61488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61488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761488" y="367588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A판에 찍는다.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애매하면 "연예인 누구요?"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0056" y="2514600"/>
            <a:ext cx="566928" cy="56692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0056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0056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0056" y="367588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B판(얼굴)과 얼마나 먼가.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좁힐지 벌릴지 판단한다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278624" y="2514600"/>
            <a:ext cx="566928" cy="566928"/>
          </a:xfrm>
          <a:prstGeom prst="ellipse">
            <a:avLst/>
          </a:prstGeom>
          <a:solidFill>
            <a:srgbClr val="A8895E"/>
          </a:solidFill>
          <a:ln w="12700">
            <a:solidFill>
              <a:srgbClr val="A889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4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278624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278624" y="367588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길이 · 질감 · 컬 · 컬러 · 앞머리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다섯 개로 번역한다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537192" y="2514600"/>
            <a:ext cx="566928" cy="56692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A889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37192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537192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537192" y="367588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5개를 말로 되읽어 준다.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그게 계약이다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5074920"/>
            <a:ext cx="11155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A8895E"/>
            </a:solidFill>
          </a:ln>
        </p:spPr>
        <p:txBody>
          <a:bodyPr wrap="square" lIns="2032" tIns="2032" rIns="2032" bIns="2032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spc="14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시안의 함정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시안에는 결과만 있고 변수가 없다. 시안을 받았으면 거기서 변수 5개를 뽑아 말로 확인해야 계약이 된다. "이거요" 하고 끄덕이는 건 계약이 아니다.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561320" y="34747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 3 · 과제와 같은 포맷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실제로 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이렇게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굴린다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352044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"청순하게요"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" y="2926080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좌표 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WARM–SOFT · CLEAR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32552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얼굴 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큐트 (아이×곡선)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4088" y="3639312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가깝다 → 좁힌다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4088" y="4041648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04088" y="4261104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세미롱 · 결 매끈 · 끝 원컬 안말음 · 베이지 · 시스루뱅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04088" y="5047488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함정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'청순'이 "어려 보이게"인지 "정돈되게"인지 갈린다. 되물어야 좌표가 확정된다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51960" y="2286000"/>
            <a:ext cx="352044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53128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"시크하게요"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3128" y="2926080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좌표 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COOL–HARD · GRAYISH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53128" y="32552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얼굴 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 (어른×직선)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53128" y="3639312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가깝다 → 5% 남긴다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53128" y="4041648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5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453128" y="4261104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세미~롱 · 매끈 · 스트레이트 · 그레이지 · 앞머리 없음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453128" y="5047488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함정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맞추면 차가워 보인다. 끝에 살짝 C컬 하나만 남겨 사람 온도를 만든다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01000" y="2286000"/>
            <a:ext cx="352044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02168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"센 언니처럼요"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02168" y="2926080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좌표 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WARM–HARD · 다이나믹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02168" y="32552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얼굴 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큐트 (아이×곡선)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02168" y="3639312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멀다 → 일부러 벌린다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02168" y="4041648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02168" y="4261104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단발 · 질감 거칠게 · 끝 꺾임 · 어두운 애쉬 · 일자뱅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02168" y="5047488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b="1" spc="12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함정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부조화가 개성이 되려면 손님이 감당해야 한다. 직업·나이·아침 관리시간을 먼저 묻는다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561320" y="34747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하필 지금 이 수업인가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오늘은 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바닥판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이다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25603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8/23 · L3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58952" y="28346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질감마스터 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58952" y="321868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↔ HARD 를 가위로 만드는 법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237744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25603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8/27 · L4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73952" y="28346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형용사 이론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73952" y="321868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좌표 위에 말을 얹는 수업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7764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160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9/22 · L5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8952" y="4434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퍼스널컬러와 구조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8952" y="481888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좌표 위에 색을 얹는 수업. NCD는 원래 색 체계다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97764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4160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11/6 · L5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73952" y="4434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골격과 구조커트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73952" y="481888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좌표 위에 몸을 얹는 수업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5806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classes, one map.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561320" y="34747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공부하는 법 · 그리고 과제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감이 아니라 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기록</a:t>
            </a:r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으로 는다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02920" y="2404872"/>
            <a:ext cx="365760" cy="365760"/>
          </a:xfrm>
          <a:prstGeom prst="ellipse">
            <a:avLst/>
          </a:prstGeom>
          <a:solidFill>
            <a:srgbClr val="F7F5F1"/>
          </a:solidFill>
          <a:ln w="1270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23317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손님 = 한 좌표 기록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63347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말 → 좌표 → 얼굴타입 → 거리 → 변수 5개 → 결과 사진. 여섯 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209544"/>
            <a:ext cx="365760" cy="365760"/>
          </a:xfrm>
          <a:prstGeom prst="ellipse">
            <a:avLst/>
          </a:prstGeom>
          <a:solidFill>
            <a:srgbClr val="F7F5F1"/>
          </a:solidFill>
          <a:ln w="12700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209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100장 좌표 찍기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1560" y="343814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저장한 시안을 A판에 흩뿌려 봐라 — 몰린 곳이 내 한계이자 내 시그니처다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4014216"/>
            <a:ext cx="365760" cy="365760"/>
          </a:xfrm>
          <a:prstGeom prst="ellipse">
            <a:avLst/>
          </a:prstGeom>
          <a:solidFill>
            <a:srgbClr val="F7F5F1"/>
          </a:solidFill>
          <a:ln w="12700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3941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질문하는 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424281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"뭐 해드려요?" 가 아니라 "이렇게 좌표 찍었는데, 좁혀야 할까요 벌려야 할까요?"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11155680" cy="1417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5029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· 다음 수업까지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77240" y="53492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분류체계 요약 1장 — 축 2개 + 칸 이름. 안 보고 그린다
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실제 손님 예시 3건 — 말 → 좌표 → 거리 → 변수 5개 → 결과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778240" y="5303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 케이스는 감점 없음.</a:t>
            </a:r>
            <a:endParaRPr lang="en-US" sz="1100" dirty="0"/>
          </a:p>
          <a:p>
            <a:pPr algn="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어긋났는지 쓰면 오히려 가점.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10896" cy="310896"/>
          </a:xfrm>
          <a:prstGeom prst="roundRect">
            <a:avLst>
              <a:gd name="adj" fmla="val 11765"/>
            </a:avLst>
          </a:prstGeom>
          <a:noFill/>
          <a:ln w="12700">
            <a:solidFill>
              <a:srgbClr val="F7F5F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347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60" kern="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 · L5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709160" y="2880360"/>
            <a:ext cx="2743200" cy="0"/>
          </a:xfrm>
          <a:prstGeom prst="line">
            <a:avLst/>
          </a:prstGeom>
          <a:noFill/>
          <a:ln w="9525">
            <a:solidFill>
              <a:srgbClr val="3A34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508760"/>
            <a:ext cx="0" cy="2743200"/>
          </a:xfrm>
          <a:prstGeom prst="line">
            <a:avLst/>
          </a:prstGeom>
          <a:noFill/>
          <a:ln w="9525">
            <a:solidFill>
              <a:srgbClr val="3A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141732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6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0" y="2423160"/>
            <a:ext cx="1216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체계를 </a:t>
            </a:r>
            <a:pPr algn="ctr" indent="0" marL="0">
              <a:buNone/>
            </a:pPr>
            <a:r>
              <a:rPr lang="en-US" sz="4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외우지</a:t>
            </a:r>
            <a:pPr algn="ctr" indent="0" marL="0">
              <a:buNone/>
            </a:pPr>
            <a:r>
              <a:rPr lang="en-US" sz="4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마라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0" y="3474720"/>
            <a:ext cx="1216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좌표는 손님 앞에서 꺼내는 자가 아니다. 내 머릿속 지도다.</a:t>
            </a:r>
            <a:endParaRPr lang="en-US" sz="13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9B9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지도를 보여주는 사람은 길을 모르는 사람이다.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4572000"/>
            <a:ext cx="1216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27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이미지 분류는 취향 놀이가 아니라,</a:t>
            </a:r>
            <a:endParaRPr lang="en-US" sz="2700" dirty="0"/>
          </a:p>
          <a:p>
            <a:pPr algn="ctr" indent="0" marL="0">
              <a:lnSpc>
                <a:spcPts val="3800"/>
              </a:lnSpc>
              <a:buNone/>
            </a:pPr>
            <a:r>
              <a:rPr lang="en-US" sz="27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손님 말을 시술로 옮기는 </a:t>
            </a:r>
            <a:endParaRPr lang="en-US" sz="2700" dirty="0"/>
          </a:p>
          <a:p>
            <a:pPr algn="ctr" indent="0" marL="0">
              <a:lnSpc>
                <a:spcPts val="3800"/>
              </a:lnSpc>
              <a:buNone/>
            </a:pPr>
            <a:r>
              <a:rPr lang="en-US" sz="27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번역기</a:t>
            </a:r>
            <a:pPr algn="ctr" indent="0" marL="0">
              <a:lnSpc>
                <a:spcPts val="3800"/>
              </a:lnSpc>
              <a:buNone/>
            </a:pPr>
            <a:r>
              <a:rPr lang="en-US" sz="27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0" y="621792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40" kern="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ACADEMY · L5 IMAGE CLASSIFICATION · 2026.08.19 · CHANO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L5 일본 이미지분류체계</dc:title>
  <dc:subject>PptxGenJS Presentation</dc:subject>
  <dc:creator>AT NOWN ACADEMY</dc:creator>
  <cp:lastModifiedBy>AT NOWN ACADEMY</cp:lastModifiedBy>
  <cp:revision>1</cp:revision>
  <dcterms:created xsi:type="dcterms:W3CDTF">2026-08-17T12:43:57Z</dcterms:created>
  <dcterms:modified xsi:type="dcterms:W3CDTF">2026-08-17T12:43:57Z</dcterms:modified>
</cp:coreProperties>
</file>