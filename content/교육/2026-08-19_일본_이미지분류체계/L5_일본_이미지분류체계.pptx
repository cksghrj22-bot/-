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자료는 두 가지 분류 체계를 소개하는 정보 자료입니다. 각 체계의 출처와 구성, 그리고 헤어 요소와 연결되는 지점을 순서대로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전체 흐름을 먼저 안내합니다. 02·03이 각 체계의 소개, 04·05가 두 체계를 함께 볼 때의 참고 항목입니다.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체계의 목적이 '분류 자체'가 아니라 '대화를 맞추는 것'에 있다는 점을 소개합니다.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체계는 서로 다른 것을 봅니다. A는 이미지 표현 자체를, B는 얼굴이 주는 인상을 분류합니다.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16칸의 이름보다 두 축의 방향을 먼저 안내하면 이해가 빠릅니다.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카테고리 이름은 참고용입니다. 자료에 따라 번역어가 조금씩 다르게 쓰이기도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카테고리 이름은 참고용입니다. 자료에 따라 번역어가 조금씩 다르게 쓰이기도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얼굴형(윤곽)과 얼굴타입(인상)은 서로 다른 분류라는 점을 안내합니다.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표의 내용은 경향이며 개인차가 큽니다. 참고 항목으로 안내합니다.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이름이 겹쳐 혼동되기 쉬운 부분이라 따로 정리했습니다.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다섯 항목은 상담 기록지의 칸과 동일하게 구성되어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예시 모두 '이렇게 정리해 볼 수 있다'는 예시입니다. 실제로는 모발 상태와 생활 조건을 함께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대응 관계는 참고용입니다. 같은 표현도 손님에 따라 다른 위치에 놓일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자료의 출처를 함께 안내합니다. 더 자세한 내용은 각 원자료에서 확인할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310896" cy="310896"/>
          </a:xfrm>
          <a:prstGeom prst="roundRect">
            <a:avLst>
              <a:gd name="adj" fmla="val 11765"/>
            </a:avLst>
          </a:prstGeom>
          <a:noFill/>
          <a:ln w="12700">
            <a:solidFill>
              <a:srgbClr val="F7F5F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F5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14400" y="34747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40" kern="0" dirty="0">
                <a:solidFill>
                  <a:srgbClr val="9B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ATNOWN ACADEMY · 학습자료</a:t>
            </a:r>
            <a:endParaRPr lang="en-US" sz="850" dirty="0"/>
          </a:p>
        </p:txBody>
      </p:sp>
      <p:pic>
        <p:nvPicPr>
          <p:cNvPr id="4" name="Image 0" descr="/tmp/edu819/img/fig_cover.png">    </p:cNvPr>
          <p:cNvPicPr>
            <a:picLocks noChangeAspect="1"/>
          </p:cNvPicPr>
          <p:nvPr/>
        </p:nvPicPr>
        <p:blipFill>
          <a:blip r:embed="rId1">
            <a:alphaModFix amt="92000"/>
          </a:blip>
          <a:stretch>
            <a:fillRect/>
          </a:stretch>
        </p:blipFill>
        <p:spPr>
          <a:xfrm>
            <a:off x="7955280" y="868680"/>
            <a:ext cx="3749040" cy="5074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214884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7F5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일본 </a:t>
            </a:r>
            <a:pPr indent="0" marL="0">
              <a:buNone/>
            </a:pPr>
            <a:r>
              <a:rPr lang="en-US" sz="4600" b="1" dirty="0">
                <a:solidFill>
                  <a:srgbClr val="A889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이미지분류체계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777240" y="32004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7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이미지를 나타내는 말을 좌표로 정리하는 방법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77240" y="370332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9B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일본에서 정리된 두 가지 분류 체계와, 그것이 헤어디자인 상담에서 어떻게 쓰이는지를 정리한 학습자료입니다.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77240" y="5760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 08. 19 (수)   ·   L5   ·   앳나운 아카데미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310896" cy="310896"/>
          </a:xfrm>
          <a:prstGeom prst="roundRect">
            <a:avLst>
              <a:gd name="adj" fmla="val 11765"/>
            </a:avLst>
          </a:prstGeom>
          <a:noFill/>
          <a:ln w="1270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14400" y="34747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40" kern="0" dirty="0">
                <a:solidFill>
                  <a:srgbClr val="9B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ATNOWN ACADEMY · 학습자료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607040" y="34747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A88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자료에서 다루는 내용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120700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목차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502920" y="22860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89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34440" y="22860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이미지분류체계의 배경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577840" y="22860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필요에서 만들어졌고 어디에 쓰이는지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852928"/>
            <a:ext cx="11155680" cy="0"/>
          </a:xfrm>
          <a:prstGeom prst="line">
            <a:avLst/>
          </a:prstGeom>
          <a:noFill/>
          <a:ln w="9525">
            <a:solidFill>
              <a:srgbClr val="E4DF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09067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89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34440" y="30906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언어 이미지 스케일 (NCD)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577840" y="309067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개의 축과 16개 이미지 카테고리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657600"/>
            <a:ext cx="11155680" cy="0"/>
          </a:xfrm>
          <a:prstGeom prst="line">
            <a:avLst/>
          </a:prstGeom>
          <a:noFill/>
          <a:ln w="9525">
            <a:solidFill>
              <a:srgbClr val="E4DF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89534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89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34440" y="389534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얼굴타입 분류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577840" y="3895344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개의 축과 8개 타입, 타입별 특징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4462272"/>
            <a:ext cx="11155680" cy="0"/>
          </a:xfrm>
          <a:prstGeom prst="line">
            <a:avLst/>
          </a:prstGeom>
          <a:noFill/>
          <a:ln w="9525">
            <a:solidFill>
              <a:srgbClr val="E4DF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70001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89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34440" y="470001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체계에서 겹치는 용어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577840" y="470001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단어가 서로 다른 축 위에 놓이는 경우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5266944"/>
            <a:ext cx="11155680" cy="0"/>
          </a:xfrm>
          <a:prstGeom prst="line">
            <a:avLst/>
          </a:prstGeom>
          <a:noFill/>
          <a:ln w="9525">
            <a:solidFill>
              <a:srgbClr val="E4DF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550468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89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34440" y="550468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헤어 요소로 옮겨 볼 때의 항목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577840" y="550468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길이 · 질감 · 컬 · 컬러 · 앞머리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310896" cy="310896"/>
          </a:xfrm>
          <a:prstGeom prst="roundRect">
            <a:avLst>
              <a:gd name="adj" fmla="val 11765"/>
            </a:avLst>
          </a:prstGeom>
          <a:noFill/>
          <a:ln w="1270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14400" y="34747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40" kern="0" dirty="0">
                <a:solidFill>
                  <a:srgbClr val="9B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ATNOWN ACADEMY · 학습자료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607040" y="34747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A88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 배경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120700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이미지분류체계는 </a:t>
            </a:r>
            <a:pPr indent="0" marL="0">
              <a:lnSpc>
                <a:spcPts val="4000"/>
              </a:lnSpc>
              <a:buNone/>
            </a:pPr>
            <a:r>
              <a:rPr lang="en-US" sz="3300" b="1" dirty="0">
                <a:solidFill>
                  <a:srgbClr val="A889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감각을 말로 옮기기 위한 정리 방식</a:t>
            </a:r>
            <a:pPr indent="0" marL="0">
              <a:lnSpc>
                <a:spcPts val="4000"/>
              </a:lnSpc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입니다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502920" y="219456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「청순한」 「시크한」 「내추럴한」 같은 말은 사람마다 떠올리는 그림이 조금씩 다릅니다. 일본에서는 색채·디자인 분야를 중심으로 이런 이미지 형용사를 좌표 위에 배치해 정리하는 방식이 발전했고, 이후 미용·패션 상담에서도 참고 자료로 쓰이고 있습니다.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3520440"/>
            <a:ext cx="35204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74904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88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쓰이는 곳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31520" y="41148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색채 계획 · 제품 디자인 · 인테리어 · 패션 · 미용 상담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51960" y="3520440"/>
            <a:ext cx="35204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374904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88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정리 방식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480560" y="41148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형용사를 두 개의 축 위에 배치해 서로의 거리를 눈으로 확인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01000" y="3520440"/>
            <a:ext cx="35204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374904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88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참고할 때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29600" y="41148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정답표가 아니라, 대화를 맞춰 보기 위한 공통 지도로 사용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2920" y="5486400"/>
            <a:ext cx="111556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6"/>
            </a:solidFill>
          </a:ln>
        </p:spPr>
        <p:txBody>
          <a:bodyPr wrap="square" lIns="1905" tIns="1905" rIns="1905" bIns="1905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spc="120" kern="0" dirty="0">
                <a:solidFill>
                  <a:srgbClr val="A88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자료의 범위
</a:t>
            </a:r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여기서는 두 체계의 구성과 용어를 소개하는 데까지를 다룹니다. 실제 시술 판단은 모발 상태·생활 조건 등 다른 정보와 함께 종합적으로 검토하게 됩니다.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310896" cy="310896"/>
          </a:xfrm>
          <a:prstGeom prst="roundRect">
            <a:avLst>
              <a:gd name="adj" fmla="val 11765"/>
            </a:avLst>
          </a:prstGeom>
          <a:noFill/>
          <a:ln w="1270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14400" y="34747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40" kern="0" dirty="0">
                <a:solidFill>
                  <a:srgbClr val="9B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ATNOWN ACADEMY · 학습자료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607040" y="34747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A88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 배경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120700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 자료에서는 </a:t>
            </a:r>
            <a:pPr indent="0" marL="0">
              <a:lnSpc>
                <a:spcPts val="4000"/>
              </a:lnSpc>
              <a:buNone/>
            </a:pPr>
            <a:r>
              <a:rPr lang="en-US" sz="3300" b="1" dirty="0">
                <a:solidFill>
                  <a:srgbClr val="A889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두 가지 체계</a:t>
            </a:r>
            <a:pPr indent="0" marL="0">
              <a:lnSpc>
                <a:spcPts val="4000"/>
              </a:lnSpc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를 함께 살펴봅니다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502920" y="2240280"/>
            <a:ext cx="5440680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8952" y="2468880"/>
            <a:ext cx="457200" cy="457200"/>
          </a:xfrm>
          <a:prstGeom prst="ellipse">
            <a:avLst/>
          </a:prstGeom>
          <a:solidFill>
            <a:srgbClr val="A8895E"/>
          </a:solidFill>
          <a:ln/>
        </p:spPr>
      </p:sp>
      <p:sp>
        <p:nvSpPr>
          <p:cNvPr id="9" name="Text 7"/>
          <p:cNvSpPr/>
          <p:nvPr/>
        </p:nvSpPr>
        <p:spPr>
          <a:xfrm>
            <a:off x="758952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5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46888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언어 이미지 스케일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371600" y="2779776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NCD (일본컬러디자인연구소)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77240" y="3246120"/>
            <a:ext cx="4892040" cy="914400"/>
          </a:xfrm>
          <a:prstGeom prst="rect">
            <a:avLst/>
          </a:prstGeom>
          <a:solidFill>
            <a:srgbClr val="F7F5F1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A88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가로축 WARM ↔ COOL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A88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세로축 SOFT ↔ HARD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A88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보조축 CLEAR ↔ GRAYISH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4343400"/>
            <a:ext cx="4892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형용사 16개를 좌표에 배치합니다. 색·질감·분위기를 함께 놓고 볼 수 있어, 손님이 말한 표현이 어느 쪽 성격인지 가늠할 때 참고합니다.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2240280"/>
            <a:ext cx="5440680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73952" y="2468880"/>
            <a:ext cx="457200" cy="457200"/>
          </a:xfrm>
          <a:prstGeom prst="ellipse">
            <a:avLst/>
          </a:prstGeom>
          <a:solidFill>
            <a:srgbClr val="A8895E"/>
          </a:solidFill>
          <a:ln/>
        </p:spPr>
      </p:sp>
      <p:sp>
        <p:nvSpPr>
          <p:cNvPr id="16" name="Text 14"/>
          <p:cNvSpPr/>
          <p:nvPr/>
        </p:nvSpPr>
        <p:spPr>
          <a:xfrm>
            <a:off x="6473952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5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086600" y="246888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얼굴타입 분류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086600" y="2779776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일본 미용 상담에서 쓰이는 8분류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92240" y="3246120"/>
            <a:ext cx="4892040" cy="914400"/>
          </a:xfrm>
          <a:prstGeom prst="rect">
            <a:avLst/>
          </a:prstGeom>
          <a:solidFill>
            <a:srgbClr val="F7F5F1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A88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세로축 아이 인상 ↔ 어른 인상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A88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가로축 곡선 ↔ 직선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92240" y="4343400"/>
            <a:ext cx="4892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얼굴이 주는 인상을 8가지로 나눕니다. 윤곽(계란형·사각형 등)과는 다른 기준이며, 타입별로 자주 어울린다고 소개되는 실루엣이 정리되어 있습니다.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310896" cy="310896"/>
          </a:xfrm>
          <a:prstGeom prst="roundRect">
            <a:avLst>
              <a:gd name="adj" fmla="val 11765"/>
            </a:avLst>
          </a:prstGeom>
          <a:noFill/>
          <a:ln w="1270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14400" y="34747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40" kern="0" dirty="0">
                <a:solidFill>
                  <a:srgbClr val="9B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ATNOWN ACADEMY · 학습자료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607040" y="34747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A88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 언어 이미지 스케일 (NCD)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120700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두 개의 축으로 </a:t>
            </a:r>
            <a:pPr indent="0" marL="0">
              <a:lnSpc>
                <a:spcPts val="4000"/>
              </a:lnSpc>
              <a:buNone/>
            </a:pPr>
            <a:r>
              <a:rPr lang="en-US" sz="3300" b="1" dirty="0">
                <a:solidFill>
                  <a:srgbClr val="A889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이미지 형용사</a:t>
            </a:r>
            <a:pPr indent="0" marL="0">
              <a:lnSpc>
                <a:spcPts val="4000"/>
              </a:lnSpc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를 배치합니다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502920" y="2194560"/>
            <a:ext cx="41148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가로축 · WARM ↔ COOL
</a:t>
            </a:r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따뜻한 쪽과 차가운 쪽. 색온도뿐 아니라 분위기의 온도도 함께 봅니다.
</a:t>
            </a:r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세로축 · SOFT ↔ HARD
</a:t>
            </a:r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위쪽은 밝고 가벼운 느낌, 아래쪽은 어둡고 무게감 있는 느낌으로 정리됩니다.
</a:t>
            </a:r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보조축 · CLEAR ↔ GRAYISH
</a:t>
            </a:r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맑고 선명한 쪽과 탁하고 차분한 쪽을 구분합니다. 시크·엘레강트·클래식·댄디는 GRAYISH 쪽에 놓이는 것으로 소개됩니다.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5394960"/>
            <a:ext cx="41148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6"/>
            </a:solidFill>
          </a:ln>
        </p:spPr>
        <p:txBody>
          <a:bodyPr wrap="square" lIns="1905" tIns="1905" rIns="1905" bIns="1905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spc="120" kern="0" dirty="0">
                <a:solidFill>
                  <a:srgbClr val="A88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참고
</a:t>
            </a:r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축의 위치는 절대적인 값이 아니라 상대적인 배치입니다. 자료마다 좌표가 조금씩 다르게 소개되기도 합니다.</a:t>
            </a:r>
            <a:endParaRPr lang="en-US" sz="1050" dirty="0"/>
          </a:p>
        </p:txBody>
      </p:sp>
      <p:pic>
        <p:nvPicPr>
          <p:cNvPr id="9" name="Image 0" descr="/tmp/edu819/img/map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1938528"/>
            <a:ext cx="6126480" cy="46542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310896" cy="310896"/>
          </a:xfrm>
          <a:prstGeom prst="roundRect">
            <a:avLst>
              <a:gd name="adj" fmla="val 11765"/>
            </a:avLst>
          </a:prstGeom>
          <a:noFill/>
          <a:ln w="1270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14400" y="34747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40" kern="0" dirty="0">
                <a:solidFill>
                  <a:srgbClr val="9B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ATNOWN ACADEMY · 학습자료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607040" y="34747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A88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 언어 이미지 스케일 (NCD)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120700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16개 이미지 카테고리 </a:t>
            </a:r>
            <a:pPr indent="0" marL="0">
              <a:lnSpc>
                <a:spcPts val="4000"/>
              </a:lnSpc>
              <a:buNone/>
            </a:pPr>
            <a:r>
              <a:rPr lang="en-US" sz="3300" b="1" dirty="0">
                <a:solidFill>
                  <a:srgbClr val="A889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(1/2)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502920" y="1965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위쪽 · SOFT 계열에서 중간까지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2377440"/>
            <a:ext cx="544068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4963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로맨틱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697480" y="252374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A88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ROMANTIC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2798064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부드럽고 달콤한 느낌. 밝고 여린 색조와 가벼운 질감이 함께 놓입니다.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2377440"/>
            <a:ext cx="544068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24963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프리티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412480" y="252374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A88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PRETTY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46520" y="2798064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귀엽고 발랄한 느낌. 따뜻하고 선명한 색조가 중심입니다.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429000"/>
            <a:ext cx="544068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5478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클리어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697480" y="357530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A88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" y="3849624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맑고 산뜻한 느낌. 투명감 있는 밝은 색조가 특징으로 소개됩니다.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17920" y="3429000"/>
            <a:ext cx="544068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35478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내추럴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412480" y="357530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A88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46520" y="3849624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자연스럽고 편안한 느낌. 중간 밝기의 부드러운 색조가 놓입니다.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4480560"/>
            <a:ext cx="544068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5994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캐주얼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697480" y="462686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A88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31520" y="4901184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경쾌하고 활동적인 느낌. 따뜻하고 선명한 색조가 함께 쓰입니다.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17920" y="4480560"/>
            <a:ext cx="544068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46520" y="45994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쿨 캐주얼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412480" y="462686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A88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 CASUAL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46520" y="4901184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산뜻하면서 시원한 느낌. 차가운 계열의 밝은 색조가 중심입니다.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02920" y="5532120"/>
            <a:ext cx="544068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56509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엘레강트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2697480" y="567842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A88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ELEGANT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31520" y="5952744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우아하고 단정한 느낌. 중간 톤에 차분한 색조가 놓입니다.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217920" y="5532120"/>
            <a:ext cx="544068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46520" y="56509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시크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412480" y="567842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A88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CHIC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46520" y="5952744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절제되고 세련된 느낌. 탁하고 차분한 색조 쪽에 배치됩니다.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310896" cy="310896"/>
          </a:xfrm>
          <a:prstGeom prst="roundRect">
            <a:avLst>
              <a:gd name="adj" fmla="val 11765"/>
            </a:avLst>
          </a:prstGeom>
          <a:noFill/>
          <a:ln w="1270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14400" y="34747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40" kern="0" dirty="0">
                <a:solidFill>
                  <a:srgbClr val="9B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ATNOWN ACADEMY · 학습자료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607040" y="34747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A88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 언어 이미지 스케일 (NCD)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120700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16개 이미지 카테고리 </a:t>
            </a:r>
            <a:pPr indent="0" marL="0">
              <a:lnSpc>
                <a:spcPts val="4000"/>
              </a:lnSpc>
              <a:buNone/>
            </a:pPr>
            <a:r>
              <a:rPr lang="en-US" sz="3300" b="1" dirty="0">
                <a:solidFill>
                  <a:srgbClr val="A889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(2/2)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502920" y="1965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아래쪽 · HARD 계열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2377440"/>
            <a:ext cx="544068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4963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다이나믹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697480" y="252374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A88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2798064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힘 있고 활동적인 느낌. 진하고 강한 색조가 함께 놓입니다.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2377440"/>
            <a:ext cx="544068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24963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와일드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412480" y="252374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A88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46520" y="2798064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거칠고 자연스러운 느낌. 어둡고 따뜻한 색조가 중심입니다.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429000"/>
            <a:ext cx="544068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5478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고저스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697480" y="357530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A88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GORGEOUS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" y="3849624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화려하고 풍성한 느낌. 깊이 있는 진한 색조가 놓입니다.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17920" y="3429000"/>
            <a:ext cx="544068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35478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에스닉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412480" y="357530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A88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ETHNIC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46520" y="3849624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토속적이고 개성 있는 느낌. 따뜻하고 어두운 색조가 특징입니다.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4480560"/>
            <a:ext cx="544068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5994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클래식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697480" y="462686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A88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31520" y="4901184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전통적이고 안정된 느낌. 차분하고 어두운 색조가 놓입니다.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17920" y="4480560"/>
            <a:ext cx="544068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46520" y="45994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댄디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412480" y="462686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A88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DANDY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46520" y="4901184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정돈되고 단정한 느낌. 차가우면서 어두운 색조 쪽입니다.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02920" y="5532120"/>
            <a:ext cx="544068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56509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모던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2697480" y="567842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A88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31520" y="5952744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간결하고 도시적인 느낌. 차갑고 명암 대비가 뚜렷한 쪽입니다.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217920" y="5532120"/>
            <a:ext cx="544068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46520" y="56509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포멀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412480" y="567842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A88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46520" y="5952744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격식 있고 단정한 느낌. 차갑고 어두운 색조에 배치됩니다.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310896" cy="310896"/>
          </a:xfrm>
          <a:prstGeom prst="roundRect">
            <a:avLst>
              <a:gd name="adj" fmla="val 11765"/>
            </a:avLst>
          </a:prstGeom>
          <a:noFill/>
          <a:ln w="1270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14400" y="34747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40" kern="0" dirty="0">
                <a:solidFill>
                  <a:srgbClr val="9B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ATNOWN ACADEMY · 학습자료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607040" y="34747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A88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 얼굴타입 분류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120700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얼굴이 주는 </a:t>
            </a:r>
            <a:pPr indent="0" marL="0">
              <a:lnSpc>
                <a:spcPts val="4000"/>
              </a:lnSpc>
              <a:buNone/>
            </a:pPr>
            <a:r>
              <a:rPr lang="en-US" sz="3300" b="1" dirty="0">
                <a:solidFill>
                  <a:srgbClr val="A889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인상</a:t>
            </a:r>
            <a:pPr indent="0" marL="0">
              <a:lnSpc>
                <a:spcPts val="4000"/>
              </a:lnSpc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을 두 축으로 나눕니다</a:t>
            </a:r>
            <a:endParaRPr lang="en-US" sz="3300" dirty="0"/>
          </a:p>
        </p:txBody>
      </p:sp>
      <p:pic>
        <p:nvPicPr>
          <p:cNvPr id="7" name="Image 0" descr="/tmp/edu819/img/map_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40280"/>
            <a:ext cx="5532120" cy="42062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0" y="2286000"/>
            <a:ext cx="5257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세로축 · 아이 인상 ↔ 어른 인상
</a:t>
            </a:r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이목구비의 배치와 얼굴의 세로 길이 등에서 받는 인상을 기준으로 나눕니다.
</a:t>
            </a:r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가로축 · 곡선 ↔ 직선
</a:t>
            </a:r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윤곽선과 이목구비의 형태가 둥근 쪽인지 각진 쪽인지를 기준으로 나눕니다.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0" y="4343400"/>
            <a:ext cx="52578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6"/>
            </a:solidFill>
          </a:ln>
        </p:spPr>
        <p:txBody>
          <a:bodyPr wrap="square" lIns="1905" tIns="1905" rIns="1905" bIns="1905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spc="120" kern="0" dirty="0">
                <a:solidFill>
                  <a:srgbClr val="A88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얼굴형과는 다른 기준입니다
</a:t>
            </a:r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계란형·사각형처럼 윤곽을 나누는 분류와는 다릅니다. 여기서는 윤곽보다 전체적으로 받는 인상을 기준으로 삼습니다.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400800" y="5532120"/>
            <a:ext cx="5257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6"/>
            </a:solidFill>
          </a:ln>
        </p:spPr>
        <p:txBody>
          <a:bodyPr wrap="square" lIns="1905" tIns="1905" rIns="1905" bIns="1905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spc="120" kern="0" dirty="0">
                <a:solidFill>
                  <a:srgbClr val="A88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참고하면 좋은 질문
</a:t>
            </a:r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「지금까지 마음에 들었던 머리 사진이 있으신가요?」처럼 과거의 경험을 물어보면, 인상에 대한 서로의 기준을 맞추는 데 도움이 됩니다.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310896" cy="310896"/>
          </a:xfrm>
          <a:prstGeom prst="roundRect">
            <a:avLst>
              <a:gd name="adj" fmla="val 11765"/>
            </a:avLst>
          </a:prstGeom>
          <a:noFill/>
          <a:ln w="1270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14400" y="34747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40" kern="0" dirty="0">
                <a:solidFill>
                  <a:srgbClr val="9B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ATNOWN ACADEMY · 학습자료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607040" y="34747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A88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 얼굴타입 분류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120700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8개 타입과 </a:t>
            </a:r>
            <a:pPr indent="0" marL="0">
              <a:lnSpc>
                <a:spcPts val="4000"/>
              </a:lnSpc>
              <a:buNone/>
            </a:pPr>
            <a:r>
              <a:rPr lang="en-US" sz="3300" b="1" dirty="0">
                <a:solidFill>
                  <a:srgbClr val="A889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자주 소개되는 실루엣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502920" y="193852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아래 내용은 일본 미용 자료에서 타입별로 자주 함께 소개되는 경향을 정리한 것입니다. 개인차가 있어 참고 항목으로 보시면 됩니다.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377440"/>
          <a:ext cx="1115568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1783080"/>
                <a:gridCol w="1920240"/>
                <a:gridCol w="3566160"/>
                <a:gridCol w="201168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spc="130" kern="0" dirty="0">
                          <a:solidFill>
                            <a:srgbClr val="A889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타입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spc="130" kern="0" dirty="0">
                          <a:solidFill>
                            <a:srgbClr val="A889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축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spc="130" kern="0" dirty="0">
                          <a:solidFill>
                            <a:srgbClr val="A889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받는 인상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spc="130" kern="0" dirty="0">
                          <a:solidFill>
                            <a:srgbClr val="A889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자주 소개되는 길이·질감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spc="130" kern="0" dirty="0">
                          <a:solidFill>
                            <a:srgbClr val="A889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자주 소개되는 컬러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큐트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아이 × 곡선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동그랗고 친근한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숏~세미 · 끝 안말음 · 컬 앞머리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889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핑크 · 베이지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액티브 큐트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아이 × 곡선(강)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발랄하고 개성 있는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숏~세미 · 또렷한 라인 · 일자뱅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889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오렌지 · 체리 · 블랙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프레시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아이 × 직선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산뜻하고 중성적인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숏~세미 · 스트레이트 / 겉말음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889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애쉬 · 베이지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쿨 캐주얼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아이 × 직선(강)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보이시하고 시원한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울프 · 결이 살아있는 질감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889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한색 · 올리브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페미닌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어른 × 곡선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화사하고 부드러운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세미~롱 · 웨이브 · 컬 앞머리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889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베이지 · 로즈브라운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소프트 엘레강트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어른 × 중간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단정하고 온화한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숏보브~세미 · 굵은 원컬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889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내추럴 · 애쉬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엘레강트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어른 × 직선(약)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또렷하고 세련된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롱 · 큰 웨이브 · 앞머리 없음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889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브라운 계열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쿨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어른 × 직선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샤프하고 도회적인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세미~롱 · 스트레이트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889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그레이 · 라벤더 그레이지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310896" cy="310896"/>
          </a:xfrm>
          <a:prstGeom prst="roundRect">
            <a:avLst>
              <a:gd name="adj" fmla="val 11765"/>
            </a:avLst>
          </a:prstGeom>
          <a:noFill/>
          <a:ln w="1270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14400" y="34747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40" kern="0" dirty="0">
                <a:solidFill>
                  <a:srgbClr val="9B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ATNOWN ACADEMY · 학습자료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607040" y="34747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A88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 두 체계를 함께 볼 때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120700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같은 단어가 </a:t>
            </a:r>
            <a:pPr indent="0" marL="0">
              <a:lnSpc>
                <a:spcPts val="4000"/>
              </a:lnSpc>
              <a:buNone/>
            </a:pPr>
            <a:r>
              <a:rPr lang="en-US" sz="3300" b="1" dirty="0">
                <a:solidFill>
                  <a:srgbClr val="A889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두 체계 모두</a:t>
            </a:r>
            <a:pPr indent="0" marL="0">
              <a:lnSpc>
                <a:spcPts val="4000"/>
              </a:lnSpc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에 등장합니다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502920" y="21488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엘레강트 · 쿨 캐주얼 · 쿨처럼 겹치는 이름이 있습니다. 다만 A는 이미지 표현을, B는 얼굴 인상을 가리키므로 같은 이름이라도 설명하는 대상이 다릅니다. 두 자료를 함께 볼 때 참고하시면 좋습니다.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5800" y="3200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A88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용어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880360" y="32004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A88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언어 이미지 스케일에서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452360" y="32004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A88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얼굴타입 분류에서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2920" y="3611880"/>
            <a:ext cx="1115568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611880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엘레강트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880360" y="3611880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중간 톤의 우아하고 단정한 이미지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452360" y="3611880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어른 인상에 직선이 약간 섞인 얼굴 타입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4480560"/>
            <a:ext cx="1115568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4480560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쿨 캐주얼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880360" y="4480560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차가운 계열의 산뜻하고 경쾌한 이미지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452360" y="4480560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아이 인상에 직선이 뚜렷한 얼굴 타입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5349240"/>
            <a:ext cx="1115568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5349240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쿨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880360" y="5349240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모던·포멀과 인접한 차가운 영역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452360" y="5349240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어른 인상에 직선이 뚜렷한 얼굴 타입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310896" cy="310896"/>
          </a:xfrm>
          <a:prstGeom prst="roundRect">
            <a:avLst>
              <a:gd name="adj" fmla="val 11765"/>
            </a:avLst>
          </a:prstGeom>
          <a:noFill/>
          <a:ln w="1270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14400" y="34747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40" kern="0" dirty="0">
                <a:solidFill>
                  <a:srgbClr val="9B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ATNOWN ACADEMY · 학습자료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607040" y="34747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A88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 헤어 요소로 옮겨 볼 때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120700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이미지를 시술 항목으로 옮길 때 </a:t>
            </a:r>
            <a:pPr indent="0" marL="0">
              <a:lnSpc>
                <a:spcPts val="4000"/>
              </a:lnSpc>
              <a:buNone/>
            </a:pPr>
            <a:r>
              <a:rPr lang="en-US" sz="3300" b="1" dirty="0">
                <a:solidFill>
                  <a:srgbClr val="A889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살펴보는 다섯 가지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502920" y="21488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이미지를 나타내는 말은 그대로는 시술 지시가 되지 않기 때문에, 상담에서는 보통 아래 다섯 항목으로 나누어 확인합니다. 항목별로 정리해 두면 서로 떠올린 그림을 맞춰 보기 쉬워집니다.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3200400"/>
            <a:ext cx="2084832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4088" y="3401568"/>
            <a:ext cx="457200" cy="457200"/>
          </a:xfrm>
          <a:prstGeom prst="ellipse">
            <a:avLst/>
          </a:prstGeom>
          <a:solidFill>
            <a:srgbClr val="F7F5F1"/>
          </a:solidFill>
          <a:ln w="12700">
            <a:solidFill>
              <a:srgbClr val="A889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" y="3401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89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04088" y="39776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길이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4088" y="434340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A88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숏 · 보브 · 미디엄 · 세미롱 · 롱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04088" y="50292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인상의 무게중심을 정하는 항목입니다.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61488" y="3200400"/>
            <a:ext cx="2084832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62656" y="3401568"/>
            <a:ext cx="457200" cy="457200"/>
          </a:xfrm>
          <a:prstGeom prst="ellipse">
            <a:avLst/>
          </a:prstGeom>
          <a:solidFill>
            <a:srgbClr val="F7F5F1"/>
          </a:solidFill>
          <a:ln w="12700">
            <a:solidFill>
              <a:srgbClr val="A889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62656" y="3401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89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962656" y="39776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질감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962656" y="434340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A88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매끈함 · 자연스러움 · 거친 결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962656" y="50292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길이라도 인상이 크게 달라지는 항목입니다.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0056" y="3200400"/>
            <a:ext cx="2084832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21224" y="3401568"/>
            <a:ext cx="457200" cy="457200"/>
          </a:xfrm>
          <a:prstGeom prst="ellipse">
            <a:avLst/>
          </a:prstGeom>
          <a:solidFill>
            <a:srgbClr val="F7F5F1"/>
          </a:solidFill>
          <a:ln w="12700">
            <a:solidFill>
              <a:srgbClr val="A889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21224" y="3401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89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21224" y="39776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컬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221224" y="434340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A88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스트레이트 · 원컬 · 웨이브 · 끝 방향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221224" y="50292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안쪽·바깥쪽 방향까지 함께 확인합니다.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278624" y="3200400"/>
            <a:ext cx="2084832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79792" y="3401568"/>
            <a:ext cx="457200" cy="457200"/>
          </a:xfrm>
          <a:prstGeom prst="ellipse">
            <a:avLst/>
          </a:prstGeom>
          <a:solidFill>
            <a:srgbClr val="F7F5F1"/>
          </a:solidFill>
          <a:ln w="12700">
            <a:solidFill>
              <a:srgbClr val="A889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79792" y="3401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89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479792" y="39776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컬러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479792" y="434340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A88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밝기 · 색조(웜/쿨) · 채도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479792" y="50292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스케일의 가로축과 직접 연결되는 항목입니다.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537192" y="3200400"/>
            <a:ext cx="2084832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738360" y="3401568"/>
            <a:ext cx="457200" cy="457200"/>
          </a:xfrm>
          <a:prstGeom prst="ellipse">
            <a:avLst/>
          </a:prstGeom>
          <a:solidFill>
            <a:srgbClr val="F7F5F1"/>
          </a:solidFill>
          <a:ln w="12700">
            <a:solidFill>
              <a:srgbClr val="A889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738360" y="3401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89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738360" y="39776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앞머리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738360" y="434340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A88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없음 · 시스루 · 일자 · 흘림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738360" y="50292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얼굴 인상 변화가 가장 크게 나타나는 항목입니다.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02920" y="5989320"/>
            <a:ext cx="111556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6"/>
            </a:solidFill>
          </a:ln>
        </p:spPr>
        <p:txBody>
          <a:bodyPr wrap="square" lIns="1905" tIns="1905" rIns="1905" bIns="1905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b="1" spc="120" kern="0" dirty="0">
                <a:solidFill>
                  <a:srgbClr val="A88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참고
</a:t>
            </a:r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사진 자료를 함께 볼 때는 결과 이미지만 보는 대신 위 다섯 항목이 각각 어떻게 되어 있는지 함께 확인하면, 이야기한 내용을 서로 같은 그림으로 맞추기 쉬워집니다.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310896" cy="310896"/>
          </a:xfrm>
          <a:prstGeom prst="roundRect">
            <a:avLst>
              <a:gd name="adj" fmla="val 11765"/>
            </a:avLst>
          </a:prstGeom>
          <a:noFill/>
          <a:ln w="1270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14400" y="34747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40" kern="0" dirty="0">
                <a:solidFill>
                  <a:srgbClr val="9B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ATNOWN ACADEMY · 학습자료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607040" y="34747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A88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 헤어 요소로 옮겨 볼 때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120700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정리 </a:t>
            </a:r>
            <a:pPr indent="0" marL="0">
              <a:lnSpc>
                <a:spcPts val="4000"/>
              </a:lnSpc>
              <a:buNone/>
            </a:pPr>
            <a:r>
              <a:rPr lang="en-US" sz="3300" b="1" dirty="0">
                <a:solidFill>
                  <a:srgbClr val="A889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예시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502920" y="193852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상담에서 나온 표현을 앞의 항목들로 옮겨 적어 본 예시입니다. 하나의 정답이 아니라 정리 방식의 예로 보시면 됩니다.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377440"/>
            <a:ext cx="352044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2578608"/>
            <a:ext cx="3118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「청순한 느낌으로」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04088" y="2999232"/>
            <a:ext cx="3118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WARM–SOFT, CLEAR 부근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04088" y="3273552"/>
            <a:ext cx="3118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큐트 (아이 × 곡선)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04088" y="3657600"/>
            <a:ext cx="3118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A88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다섯 항목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04088" y="3895344"/>
            <a:ext cx="3118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세미롱 / 매끈한 질감 / 끝 안말음 원컬 / 베이지 / 시스루 앞머리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04088" y="4754880"/>
            <a:ext cx="3118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A88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참고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04088" y="4992624"/>
            <a:ext cx="31181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표현이라도 「어려 보이는 쪽」과 「정돈된 쪽」으로 나뉘는 경우가 있어, 어느 쪽에 가까운지 함께 확인해 두면 좋습니다.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51960" y="2377440"/>
            <a:ext cx="352044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53128" y="2578608"/>
            <a:ext cx="3118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「시크한 느낌으로」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453128" y="2999232"/>
            <a:ext cx="3118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COOL–HARD, GRAYISH 부근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453128" y="3273552"/>
            <a:ext cx="3118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쿨 (어른 × 직선)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453128" y="3657600"/>
            <a:ext cx="3118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A88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다섯 항목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453128" y="3895344"/>
            <a:ext cx="3118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세미~롱 / 매끈한 질감 / 스트레이트 / 그레이지 / 앞머리 없음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453128" y="4754880"/>
            <a:ext cx="3118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A88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참고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453128" y="4992624"/>
            <a:ext cx="31181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끝부분에 아주 약한 곡선을 남기는 방식도 함께 소개됩니다. 인상이 차분해지는 정도를 조절할 때 참고하는 부분입니다.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001000" y="2377440"/>
            <a:ext cx="352044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02168" y="2578608"/>
            <a:ext cx="3118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「강한 느낌으로」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8202168" y="2999232"/>
            <a:ext cx="3118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WARM–HARD, 다이나믹 부근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202168" y="3273552"/>
            <a:ext cx="3118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큐트 (아이 × 곡선)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202168" y="3657600"/>
            <a:ext cx="3118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A88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다섯 항목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202168" y="3895344"/>
            <a:ext cx="3118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단발 / 결이 살아있는 질감 / 끝 바깥 방향 / 어두운 애쉬 / 일자 앞머리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202168" y="4754880"/>
            <a:ext cx="3118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A88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참고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202168" y="4992624"/>
            <a:ext cx="31181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표현하고 싶은 이미지와 얼굴 인상이 서로 멀리 놓이는 경우입니다. 이런 경우에는 관리 시간이나 생활 조건도 함께 확인하게 됩니다.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310896" cy="310896"/>
          </a:xfrm>
          <a:prstGeom prst="roundRect">
            <a:avLst>
              <a:gd name="adj" fmla="val 11765"/>
            </a:avLst>
          </a:prstGeom>
          <a:noFill/>
          <a:ln w="1270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14400" y="34747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40" kern="0" dirty="0">
                <a:solidFill>
                  <a:srgbClr val="9B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ATNOWN ACADEMY · 학습자료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607040" y="34747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A88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부록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120700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상담에서 자주 나오는 </a:t>
            </a:r>
            <a:pPr indent="0" marL="0">
              <a:lnSpc>
                <a:spcPts val="4000"/>
              </a:lnSpc>
              <a:buNone/>
            </a:pPr>
            <a:r>
              <a:rPr lang="en-US" sz="3300" b="1" dirty="0">
                <a:solidFill>
                  <a:srgbClr val="A889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이미지 표현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502920" y="193852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손님이 쓰는 우리말 표현과, 두 체계에서 가까운 위치에 놓이는 이름을 나란히 정리했습니다.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377440"/>
          <a:ext cx="111556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926080"/>
                <a:gridCol w="2743200"/>
                <a:gridCol w="25603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spc="130" kern="0" dirty="0">
                          <a:solidFill>
                            <a:srgbClr val="A889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자주 쓰이는 표현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spc="130" kern="0" dirty="0">
                          <a:solidFill>
                            <a:srgbClr val="A889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가까운 A 카테고리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spc="130" kern="0" dirty="0">
                          <a:solidFill>
                            <a:srgbClr val="A889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축 방향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spc="130" kern="0" dirty="0">
                          <a:solidFill>
                            <a:srgbClr val="A889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함께 언급되는 요소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청순한 · 단정한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클리어 · 엘레강트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 쪽, 맑은 계열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매끈한 질감 · 밝은 베이지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여성스러운 · 화사한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로맨틱 · 페미닌 계열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WARM–SOFT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웨이브 · 로즈 계열 컬러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자연스러운 · 편안한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내추럴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중앙 부근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과하지 않은 층 · 중간 밝기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시크한 · 세련된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시크 · 모던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COOL–HARD, 탁한 계열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스트레이트 · 그레이 계열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도시적인 · 깔끔한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모던 · 포멀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COOL–HARD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블런트 라인 · 무채색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개성 있는 · 강한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다이나믹 · 와일드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WARM–HARD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거친 결 · 어두운 톤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귀여운 · 발랄한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프리티 · 캐주얼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WARM 쪽, 밝은 계열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짧은 길이 · 컬 앞머리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고급스러운 · 우아한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엘레강트 · 고저스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중간~아래, 차분한 계열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큰 웨이브 · 브라운 계열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310896" cy="310896"/>
          </a:xfrm>
          <a:prstGeom prst="roundRect">
            <a:avLst>
              <a:gd name="adj" fmla="val 11765"/>
            </a:avLst>
          </a:prstGeom>
          <a:noFill/>
          <a:ln w="1270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14400" y="34747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40" kern="0" dirty="0">
                <a:solidFill>
                  <a:srgbClr val="9B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ATNOWN ACADEMY · 학습자료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607040" y="34747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A88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정리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120700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오늘 살펴본 </a:t>
            </a:r>
            <a:pPr indent="0" marL="0">
              <a:lnSpc>
                <a:spcPts val="4000"/>
              </a:lnSpc>
              <a:buNone/>
            </a:pPr>
            <a:r>
              <a:rPr lang="en-US" sz="3300" b="1" dirty="0">
                <a:solidFill>
                  <a:srgbClr val="A889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내용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502920" y="2267712"/>
            <a:ext cx="384048" cy="384048"/>
          </a:xfrm>
          <a:prstGeom prst="ellipse">
            <a:avLst/>
          </a:prstGeom>
          <a:solidFill>
            <a:srgbClr val="F7F5F1"/>
          </a:solidFill>
          <a:ln w="12700">
            <a:solidFill>
              <a:srgbClr val="A889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89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21945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언어 이미지 스케일 (A)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480560" y="2194560"/>
            <a:ext cx="7178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WARM↔COOL, SOFT↔HARD 두 축과 보조축 CLEAR↔GRAYISH 위에 16개 이미지 카테고리가 배치됩니다.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3182112"/>
            <a:ext cx="384048" cy="384048"/>
          </a:xfrm>
          <a:prstGeom prst="ellipse">
            <a:avLst/>
          </a:prstGeom>
          <a:solidFill>
            <a:srgbClr val="F7F5F1"/>
          </a:solidFill>
          <a:ln w="12700">
            <a:solidFill>
              <a:srgbClr val="A889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182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89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31089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얼굴타입 분류 (B)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80560" y="3108960"/>
            <a:ext cx="7178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아이↔어른, 곡선↔직선 두 축 위에 8개 타입이 놓이며, 타입별로 자주 소개되는 실루엣이 정리되어 있습니다.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4096512"/>
            <a:ext cx="384048" cy="384048"/>
          </a:xfrm>
          <a:prstGeom prst="ellipse">
            <a:avLst/>
          </a:prstGeom>
          <a:solidFill>
            <a:srgbClr val="F7F5F1"/>
          </a:solidFill>
          <a:ln w="12700">
            <a:solidFill>
              <a:srgbClr val="A889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096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89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40233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함께 볼 때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480560" y="4023360"/>
            <a:ext cx="7178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이름이 겹치는 용어가 있어 어느 체계의 이름인지 확인하면 혼동을 줄일 수 있습니다.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5010912"/>
            <a:ext cx="384048" cy="384048"/>
          </a:xfrm>
          <a:prstGeom prst="ellipse">
            <a:avLst/>
          </a:prstGeom>
          <a:solidFill>
            <a:srgbClr val="F7F5F1"/>
          </a:solidFill>
          <a:ln w="12700">
            <a:solidFill>
              <a:srgbClr val="A889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5010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89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0" y="49377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헤어 요소로 옮길 때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480560" y="4937760"/>
            <a:ext cx="7178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길이 · 질감 · 컬 · 컬러 · 앞머리 다섯 항목으로 나누어 정리하는 방식이 함께 소개됩니다.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02920" y="5852160"/>
            <a:ext cx="111556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585216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A88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참고 자료   </a:t>
            </a:r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日本カラーデザイン研究所 「イメージスケール」 · 岩手県立大学 감성공학 강의자료 · 顔タイプ診断® 관련 일본 미용 자료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일본 이미지분류체계 — 학습자료</dc:title>
  <dc:subject>L5 · 2026-08-19</dc:subject>
  <dc:creator>AT NOWN ACADEMY</dc:creator>
  <cp:lastModifiedBy>AT NOWN ACADEMY</cp:lastModifiedBy>
  <cp:revision>1</cp:revision>
  <dcterms:created xsi:type="dcterms:W3CDTF">2026-08-18T00:32:38Z</dcterms:created>
  <dcterms:modified xsi:type="dcterms:W3CDTF">2026-08-18T00:32:38Z</dcterms:modified>
</cp:coreProperties>
</file>