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환영 인사. 오늘 발표: 교육 큰 그림 → 코스 → 커리큘럼 → 일정 → 준비물 → 디자이너 조건 → SNS → Q&amp;A. 편하게 질문받겠다고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던지기. 각자 머릿속에 '되고 싶은 디자이너(이상향)'를 그려보게 한다. 답은 뒤 워드월/대화로.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현재와 이상향 사이의 간극 = '고객이 나를 찾아오게 만드는 것'. 이 강을 어떻게 건널까?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이상향은 한 번에 도달 불가. 초디부터 디딤돌(역경)을 하나씩 밟는 '과정'이 곧 성장. 이게 플레이어의 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갈래. 윗길: 디딤돌→과정→도달. 아랫길: 이상향만 높이→건너뜀→좌절→타협→'미용=생계수단' 평범. 요즘 디딤돌을 잊고 이상향만 높다가 타협하는 걸 우리가 돌아보자는 취지. (여기서 대표님이 직접 풀어 설명)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 한 줄. 이상향은 방향, 디딤돌은 오늘 할 일. 여기서 시스템 설명으로 자연스럽게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선언: 판단 기준을 '머리를 할 수 있다(기술 완료)'에서 '디자이너로 우뚝 선다(유입·케어·브랜드)'로 옮긴다. 개편의 방향.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유안·범진의 실제 성장 영상을 재생. (영상 파일/링크는 발표 전 삽입) — '너희도 이 길을 건널 수 있다'는 증거.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1·2레벨은 기초와 마인드. 3레벨부터 현장 실전. 4레벨은 SNS로 나를 알리는 능력. 5레벨이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코스는 커리큘럼이 다른 게 아니라 기간·범위가 다르다. 업스타일 포함 여부가 한남/청담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정규 5개 라인, 선생님 6명. 각자 자기 라인을 레벨 순서로 진행. 총 70과목.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교육은 8월 둘째 주부터 12월 첫 주까지. 요일은 골고루 흩어 배분. 시험은 12월 21일.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준비물은 전날, 과제는 다음 수업 전. 가발·모델모는 되돌릴 수 없으니 신중히 — 준비부터가 이미 시험의 시작. 모르면 바로 선생님께.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승급은 시그니처 쇼(인스타 헤어쇼)로 증명 — 4레벨 정량기준 50%, 5레벨 80% 통과 시. 정량기준: 포트폴리오30·인스타3개월·매출300~400만·리뷰월10·모델50명. 그리고 최종 KPI(모델100·매출500·시그니처60·리뷰70·조회수10만) 달성 시엔 무조건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'직급(레벨) 승급심사' 점수표(점수_계산표.html 정본). 시즈1~3 합격75↑, 시즈4~5 합격80↑. ↔ 디자이너 승급은 별개(헤어쇼 정량기준+무조건 KPI, 앞장). 두 개를 섞지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4레벨=쇼 50% 통과, 5레벨=쇼 80% 통과로 디자이너. 채점은 둘 다 80↑. KPI 채우면 지름길.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샵 개편으로 디자이너 기준·시점 조정, 1~3레벨 즉시 적용. 핵심 강조: SNS 마케팅력 못 채우면 밀린다 — 빨라진 만큼 유입력이 관건. 정확한 날짜는 개편 확정 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자유롭게 질문받기. 위 4개는 자주 나오는 질문 예시.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앞으로의 성장 응원.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03504" y="27432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</a:t>
            </a:r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SYSTEM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58368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오리엔테이션 — 우리가 어떻게 디자이너가 되는가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4389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→ FIGHTER → SNS → DESIGNER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5943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하반기 · 8월 2째주 → 12월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당신은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1036015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60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어떤 디자이너가</a:t>
            </a:r>
            <a:endParaRPr lang="en-US" sz="6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60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되고 싶어요?</a:t>
            </a:r>
            <a:endParaRPr lang="en-US" sz="6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vs DREAM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지금의 나 · 그리고 되고 싶은 나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1828800" cy="182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8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2004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지금의 나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(초급)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537192" y="3200400"/>
            <a:ext cx="1828800" cy="18288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9537192" y="32004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되고 싶은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(이상향)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834640" y="3520440"/>
            <a:ext cx="6519672" cy="1188720"/>
          </a:xfrm>
          <a:prstGeom prst="rect">
            <a:avLst/>
          </a:prstGeom>
          <a:solidFill>
            <a:srgbClr val="E9E3D8"/>
          </a:solidFill>
          <a:ln/>
        </p:spPr>
      </p:sp>
      <p:sp>
        <p:nvSpPr>
          <p:cNvPr id="11" name="Text 9"/>
          <p:cNvSpPr/>
          <p:nvPr/>
        </p:nvSpPr>
        <p:spPr>
          <a:xfrm>
            <a:off x="2834640" y="3520440"/>
            <a:ext cx="651967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7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나를 찾아오게 만들어야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8A7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건널 수 있는 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이상향과 지금 사이엔 '강'이 있다 — 손님이 나를 찾아오게 만드는 것.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STONES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번에 못 건넌다 · 디딤돌을 하나씩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1828800" cy="182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8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지금의 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811512" y="3200400"/>
            <a:ext cx="1828800" cy="18288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9811512" y="32004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697480" y="349758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7480" y="34975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78808" y="413766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78808" y="41376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0136" y="349758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0136" y="34975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41464" y="413766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41464" y="41376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622792" y="349758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22792" y="34975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도약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이상향은 한 걸음에 못 간다 — 초디부터 디딤돌(역경·과정)을 하나씩 밟아 건넌다.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갈래 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디딤돌이냐, 타협이냐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F3EEE3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468880"/>
            <a:ext cx="5486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○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71600" y="2651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디딤돌을 하나씩 밟는다  </a:t>
            </a:r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역경·과정을 지난다 → </a:t>
            </a:r>
            <a:pPr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이상향에 닿는다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느려 보여도, 결국 원하는 디자이너가 되는 유일한 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114800"/>
            <a:ext cx="11091672" cy="1600200"/>
          </a:xfrm>
          <a:prstGeom prst="roundRect">
            <a:avLst>
              <a:gd name="adj" fmla="val 6857"/>
            </a:avLst>
          </a:prstGeom>
          <a:solidFill>
            <a:srgbClr val="EFEEEC"/>
          </a:solidFill>
          <a:ln w="15875">
            <a:solidFill>
              <a:srgbClr val="C9C3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114800"/>
            <a:ext cx="548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4297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이상향만 높이 잡는다  </a:t>
            </a:r>
            <a:pPr indent="0" marL="0">
              <a:buNone/>
            </a:pPr>
            <a:r>
              <a:rPr lang="en-US" sz="16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디딤돌을 건너뛴다 → 안 된다 → </a:t>
            </a:r>
            <a:pPr indent="0" marL="0">
              <a:buNone/>
            </a:pPr>
            <a:r>
              <a:rPr lang="en-US" sz="1600" b="1" dirty="0">
                <a:solidFill>
                  <a:srgbClr val="8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타협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'미용은 그냥 생계수단' → 평범하게 먹고사는 데서 멈춘다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5303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요즘 디딤돌을 생각하는 사람이 드물다 — 우리가 돌아봐야 할 지점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5292" y="246888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743200"/>
            <a:ext cx="1036015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5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이상향보다,</a:t>
            </a:r>
            <a:endParaRPr lang="en-US" sz="5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5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오늘의 디딤돌.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466344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초디의 한 걸음이 곧 그 길이다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우리의 판단 기준이 바뀝니다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05840" y="2468880"/>
            <a:ext cx="4572000" cy="2286000"/>
          </a:xfrm>
          <a:prstGeom prst="roundRect">
            <a:avLst>
              <a:gd name="adj" fmla="val 5600"/>
            </a:avLst>
          </a:prstGeom>
          <a:solidFill>
            <a:srgbClr val="24242A"/>
          </a:solidFill>
          <a:ln w="12700">
            <a:solidFill>
              <a:srgbClr val="3A3A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697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0632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C9C3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"머리를</a:t>
            </a:r>
            <a:endParaRPr lang="en-US" sz="3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C9C3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할 수 있다"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577840" y="2468880"/>
            <a:ext cx="103327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611112" y="2468880"/>
            <a:ext cx="4572000" cy="2286000"/>
          </a:xfrm>
          <a:prstGeom prst="roundRect">
            <a:avLst>
              <a:gd name="adj" fmla="val 5600"/>
            </a:avLst>
          </a:prstGeom>
          <a:solidFill>
            <a:srgbClr val="A8895E"/>
          </a:solidFill>
          <a:ln/>
        </p:spPr>
      </p:sp>
      <p:sp>
        <p:nvSpPr>
          <p:cNvPr id="11" name="Text 9"/>
          <p:cNvSpPr/>
          <p:nvPr/>
        </p:nvSpPr>
        <p:spPr>
          <a:xfrm>
            <a:off x="6611112" y="2697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A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11112" y="30632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"디자이너로</a:t>
            </a:r>
            <a:endParaRPr lang="en-US" sz="3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우뚝 선다"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914400" y="512064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기술을 익혔느냐가 아니라 — 손님을 오게 하고 케어하는, 디자이너로 설 수 있느냐로 본다.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MODEL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디딤돌을 밟은 사람들 · 영상 예시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유안 · 범진 — 이렇게 건넜다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440680" cy="2651760"/>
          </a:xfrm>
          <a:prstGeom prst="roundRect">
            <a:avLst>
              <a:gd name="adj" fmla="val 4138"/>
            </a:avLst>
          </a:prstGeom>
          <a:solidFill>
            <a:srgbClr val="111114"/>
          </a:solidFill>
          <a:ln/>
        </p:spPr>
      </p:sp>
      <p:sp>
        <p:nvSpPr>
          <p:cNvPr id="8" name="Shape 6"/>
          <p:cNvSpPr/>
          <p:nvPr/>
        </p:nvSpPr>
        <p:spPr>
          <a:xfrm>
            <a:off x="2811780" y="3200400"/>
            <a:ext cx="914400" cy="9144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28117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1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8640" y="429768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유안 영상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466344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(발표 때 영상 재생 — 링크 삽입 자리)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91072" y="2514600"/>
            <a:ext cx="5440680" cy="2651760"/>
          </a:xfrm>
          <a:prstGeom prst="roundRect">
            <a:avLst>
              <a:gd name="adj" fmla="val 4138"/>
            </a:avLst>
          </a:prstGeom>
          <a:solidFill>
            <a:srgbClr val="111114"/>
          </a:solidFill>
          <a:ln/>
        </p:spPr>
      </p:sp>
      <p:sp>
        <p:nvSpPr>
          <p:cNvPr id="13" name="Shape 11"/>
          <p:cNvSpPr/>
          <p:nvPr/>
        </p:nvSpPr>
        <p:spPr>
          <a:xfrm>
            <a:off x="8554212" y="3200400"/>
            <a:ext cx="914400" cy="9144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4" name="Text 12"/>
          <p:cNvSpPr/>
          <p:nvPr/>
        </p:nvSpPr>
        <p:spPr>
          <a:xfrm>
            <a:off x="8554212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1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291072" y="429768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범진 영상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91072" y="466344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(발표 때 영상 재생 — 링크 삽입 자리)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초디에서 디딤돌을 하나씩 밟아 디자이너로 선 실제 예시 — 영상으로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큰 그림 · 이 순서대로 큰다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→ 5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손이랑 마음부터 → 혼자 서는 디자이너까지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1·2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완전 기초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04672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가위 잡는 것부터. "왜 이 일을 하는지" 먼저 심고 기본기를 몸에 붙인다.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74136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30168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3630168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630168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30168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실전 전투원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630168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손님 앞에. 배운 걸로 현장에서 부딪히며 실력을 굳힌다.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9632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55664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2" name="Text 20"/>
          <p:cNvSpPr/>
          <p:nvPr/>
        </p:nvSpPr>
        <p:spPr>
          <a:xfrm>
            <a:off x="6455664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455664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SNS 소통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55664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실력 + 나를 보여주는 힘. SNS로 손님이 나를 찾아오게 만든다.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25128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81160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8" name="Text 26"/>
          <p:cNvSpPr/>
          <p:nvPr/>
        </p:nvSpPr>
        <p:spPr>
          <a:xfrm>
            <a:off x="928116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281160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281160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281160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손님을 오게 하고 끝까지 케어. 여기까지 오면 승급!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코스로 가느냐 · 기간만 다르다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 · 한남 · 청담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8580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남자 전문 (맨즈)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원장 STAGE 0~7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8912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한남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8912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 6개월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 빼고 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 후 마지막 레벨 이수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9244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청담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09244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3년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36676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업스타일까지 전부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 커리큘럼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한남은 청담보다 6개월 짧다 — 디자이너가 된 뒤 마지막 레벨 수업을 업스타일만 빼고 이수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무엇을 가르치나 · 정규 70과목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Teachers · 5 Lines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커트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269748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기초(L1·2) → 디자인·시그니처(L3~5)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235440" y="269748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창엽 · 이호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35584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열펌 · 룩북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43200" y="3355848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남성 열펌·설계 → 여성 디자인 → 룩북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235440" y="335584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95928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0142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콜드펌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743200" y="4014216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 → 와인딩 → 기법 → 디자인 → 트렌드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235440" y="4014216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성희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654296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72584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업스타일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0" y="4672584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드라이·브레이드 → 업스타일 → 방송헤어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235440" y="4672584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보미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312664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30952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 방법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743200" y="5330952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열펌 기초 → 질감 → 형용사 → 이미지·구조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235440" y="5330952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차노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971032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맨즈(옴므)는 와이 원장 STAGE 0~7 별도 줄기 · 특강(연교·재아·승현) 매월 3째주 금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하반기 · 언제 어떻게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 → 12/6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651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정규교육 8월 2째주 ~ 12월 첫주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234440" y="2999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화·수·목·금·일에 배분 (월·토 휴무), 아침 07:30~09:30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93008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40156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레벨이 다르면 같은 날 병행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34440" y="3749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레벨(캘린더 L태그) 과목만 들으면 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242816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242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415137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 — 매월 2·4째주 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234440" y="44988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2명 이상일 때 시행 · 저녁 작업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99262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49926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490118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특강 — 매월 3째주 금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234440" y="5248656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· 연교 · 신후 · 재아 · 승현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42432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5742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565099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입봉시험 — 12/21 (월)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234440" y="5998464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종료 후 2주 여유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PREPARE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시즈가 지킬 것 · 준비물 · 과제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Ready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3035808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29260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준비물은 전날까지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345643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도구·마네킹·약제를 미리 챙겨 온다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65176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0" y="3035808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76288" y="29260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과제는 다음 수업 전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0" y="345643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촬영본·리포트로 제출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224528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608576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7" name="Text 15"/>
          <p:cNvSpPr/>
          <p:nvPr/>
        </p:nvSpPr>
        <p:spPr>
          <a:xfrm>
            <a:off x="1207008" y="449884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가발·모델모는 신중히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5029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준비부터가 시험 시작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4224528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608576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21" name="Text 19"/>
          <p:cNvSpPr/>
          <p:nvPr/>
        </p:nvSpPr>
        <p:spPr>
          <a:xfrm>
            <a:off x="6876288" y="449884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모르면 바로 물어보기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583680" y="5029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과목별 상세는 배포 문서에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797296"/>
            <a:ext cx="11109960" cy="822960"/>
          </a:xfrm>
          <a:prstGeom prst="roundRect">
            <a:avLst>
              <a:gd name="adj" fmla="val 11111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5797296"/>
            <a:ext cx="11109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준비된 손이  </a:t>
            </a:r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디자인이 된다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SHOW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헤어디자이너 쇼 기준 · 승급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헤어디자이너 쇼 기준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2860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시그니처 쇼</a:t>
            </a:r>
            <a:pPr indent="0" marL="0">
              <a:buNone/>
            </a:pPr>
            <a:r>
              <a:rPr lang="en-US" sz="1800" dirty="0">
                <a:solidFill>
                  <a:srgbClr val="D7D1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인스타 헤어쇼 · 디렉터 입회 · 기획력·PPT력·노출력으로 증명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66928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기준 성립 —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정량기준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pPr indent="0" marL="0">
              <a:buNone/>
            </a:pPr>
            <a:r>
              <a:rPr lang="en-US" sz="14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통과 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03320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 기준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30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93492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9212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인스타 3개월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0056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65776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300~400만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246620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2340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월 10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473184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18904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50명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66928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무조건 디자이너 되는 KPI</a:t>
            </a:r>
            <a:pPr indent="0" marL="0">
              <a:buNone/>
            </a:pPr>
            <a:r>
              <a:rPr lang="en-US" sz="1150" spc="100" kern="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최종 조건 달성 시 쇼·정량 기준과 무관하게 승급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100명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93492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5" name="Text 23"/>
          <p:cNvSpPr/>
          <p:nvPr/>
        </p:nvSpPr>
        <p:spPr>
          <a:xfrm>
            <a:off x="2839212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500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0056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7" name="Text 25"/>
          <p:cNvSpPr/>
          <p:nvPr/>
        </p:nvSpPr>
        <p:spPr>
          <a:xfrm>
            <a:off x="5065776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60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246620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9" name="Text 27"/>
          <p:cNvSpPr/>
          <p:nvPr/>
        </p:nvSpPr>
        <p:spPr>
          <a:xfrm>
            <a:off x="7292340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70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473184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31" name="Text 29"/>
          <p:cNvSpPr/>
          <p:nvPr/>
        </p:nvSpPr>
        <p:spPr>
          <a:xfrm>
            <a:off x="9518904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조회수 10만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66928" y="5943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— 1·2레벨 주 1개 / 3·4레벨 주 2개 (나의 생각·연습)로 나를 알리는 힘까지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직급(레벨) 승급심사 · 점수 계산표 · 만점 100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직급 승급, 이렇게 채점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440680" cy="475488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14600"/>
            <a:ext cx="27203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1~3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24912" y="2514600"/>
            <a:ext cx="30815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75점↑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99008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20240" y="299008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51760" y="299008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3과목 × 15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502152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50215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3502152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651760" y="3502152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16회↑ 3점·매일 40분↑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401421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4014216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651760" y="4014216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10회↑ 10점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52628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팀교육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920240" y="4526280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651760" y="4526280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매달 1회·총 5회 (확인 후 카톡 보고)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" y="503834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교육과제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920240" y="5038344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651760" y="5038344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 내 이행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550408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5504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920240" y="555040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651760" y="555040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91072" y="2514600"/>
            <a:ext cx="5440680" cy="475488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514600"/>
            <a:ext cx="27203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4~5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467344" y="2514600"/>
            <a:ext cx="30815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73952" y="299008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662672" y="299008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394192" y="299008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과목(각 15)·준비물 감점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291072" y="3502152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350215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662672" y="3502152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394192" y="3502152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5개월 30개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73952" y="401421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662672" y="4014216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394192" y="4014216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91072" y="4526280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45" name="Text 43"/>
          <p:cNvSpPr/>
          <p:nvPr/>
        </p:nvSpPr>
        <p:spPr>
          <a:xfrm>
            <a:off x="6473952" y="452628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교육과제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7662672" y="4526280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4526280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 내 이행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473952" y="503834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태도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662672" y="5038344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394192" y="5038344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지각 회당 -1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291072" y="5550408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52" name="Text 50"/>
          <p:cNvSpPr/>
          <p:nvPr/>
        </p:nvSpPr>
        <p:spPr>
          <a:xfrm>
            <a:off x="6473952" y="55504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662672" y="555040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394192" y="555040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 횟수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이건 직급(레벨) 승급 채점표 · 디자이너 승급(헤어쇼 기준·무조건 KPI)은 앞장 참고 — 둘은 다릅니다.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4·5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디자이너로 가는 마지막 관문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4·5레벨 승급 기준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4406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27203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4레벨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996946" y="2788920"/>
            <a:ext cx="2446020" cy="384048"/>
          </a:xfrm>
          <a:prstGeom prst="rect">
            <a:avLst/>
          </a:prstGeom>
          <a:solidFill>
            <a:srgbClr val="A889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50% 통과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20240" y="338328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 (실기30·SNS30 중심)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400507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4005072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정량기준 50% 통과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4626864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4626864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실전 + SNS로 유입 시작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91072" y="2514600"/>
            <a:ext cx="54406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2743200"/>
            <a:ext cx="27203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5레벨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739378" y="2788920"/>
            <a:ext cx="2446020" cy="384048"/>
          </a:xfrm>
          <a:prstGeom prst="rect">
            <a:avLst/>
          </a:prstGeom>
          <a:solidFill>
            <a:srgbClr val="A889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80% 통과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65392" y="3383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662672" y="338328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65392" y="400507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62672" y="4005072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정량기준 80% 통과 → 디자이너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65392" y="4626864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662672" y="4626864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혼자 서는 디자이너 · 케어까지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최종 KPI(모델100·매출500·시그니처60·리뷰70·조회수10만) 달성 시 — 쇼·정량 무관하게 무조건 디자이너.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한남 · 맨즈 · 플레이스 개편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 되는 기준이 바뀐다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56946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5694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468880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샵 개편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34440" y="286207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한남·맨즈·플레이스 개편에 맞춰 디자이너 승급 기준·시점이 조정됨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48386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838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383280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1~3레벨 즉시 적용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34440" y="377647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1~3레벨 아이들에게 바로 적용된다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2A211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70916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단, SNS 마케팅력 기준을 못 채우면 — 밀린다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144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D1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빨라진 만큼, '나를 알리고 손님을 오게 하는 힘(SNS)'이 안 되면 승급은 미뤄진다.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구체 기준일자는 개편 확정본 반영 예정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1031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&amp; A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6576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 수업만 들으면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— 캘린더의 내 레벨(L태그) 과목만.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31596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4315968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준비물은 어디서 봐요?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「과목별 준비물·과제·주의」 문서 (선생님별).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97433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60120" y="497433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디자이너는 어떻게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쇼 — 4레벨 50%·5레벨 80% 통과 시.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6327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5632704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모델데이·특강은 언제?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2·4주 금(모델) · 3주 금(특강).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5292" y="228600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651760"/>
            <a:ext cx="103601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손이랑 마음부터</a:t>
            </a:r>
            <a:endParaRPr lang="en-US" sz="4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혼자 서는 디자이너까지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44805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EDUCATION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2026-07-30T04:11:32Z</dcterms:created>
  <dcterms:modified xsi:type="dcterms:W3CDTF">2026-07-30T04:11:32Z</dcterms:modified>
</cp:coreProperties>
</file>