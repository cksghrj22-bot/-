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환영 인사. 오늘 발표: 교육 큰 그림 → 코스 → 커리큘럼 → 일정 → 준비물 → 디자이너 조건 → SNS → Q&amp;A. 편하게 질문받겠다고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던지기. 각자 머릿속에 '되고 싶은 디자이너(이상향)'를 그려보게 한다. 답은 뒤 워드월/대화로.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현재와 이상향 사이의 간극 = '고객이 나를 찾아오게 만드는 것'. 이 강을 어떻게 건널까?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이상향은 한 번에 도달 불가. 초디부터 디딤돌(역경)을 하나씩 밟는 '과정'이 곧 성장. 이게 플레이어의 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갈래. 윗길: 디딤돌→과정→도달. 아랫길: 이상향만 높이→건너뜀→좌절→타협→'미용=생계수단' 평범. 요즘 디딤돌을 잊고 이상향만 높다가 타협하는 걸 우리가 돌아보자는 취지. (여기서 대표님이 직접 풀어 설명)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한 줄. 이상향은 방향, 디딤돌은 오늘 할 일. 여기서 시스템 설명으로 자연스럽게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1·2레벨은 기초와 마인드. 3레벨부터 현장 실전. 4레벨은 SNS로 나를 알리는 능력. 5레벨이 디자이너 승급.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코스는 커리큘럼이 다른 게 아니라 기간·범위가 다르다. 업스타일 포함 여부가 한남/청담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정규 5개 라인, 선생님 6명. 각자 자기 라인을 레벨 순서로 진행. 총 70과목.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교육은 8월 둘째 주부터 12월 첫 주까지. 요일은 골고루 흩어 배분. 시험은 12월 21일.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준비물은 전날, 과제는 다음 수업 전. 가발·모델모는 되돌릴 수 없으니 신중히 — 준비부터가 이미 시험의 시작. 모르면 바로 선생님께.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승급은 시그니처 쇼(인스타 헤어쇼)로 증명 — 4레벨 정량기준 50%, 5레벨 80% 통과 시. 정량기준: 포트폴리오30·인스타3개월·매출300~400만·리뷰월10·모델50명. 그리고 최종 KPI(모델100·매출500·시그니처60·리뷰70·조회수10만) 달성 시엔 무조건 디자이너 승급.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'직급(레벨) 승급심사' 점수표(점수_계산표.html 정본). 시즈1~3 합격75↑, 시즈4~5 합격80↑. ↔ 디자이너 승급은 별개(헤어쇼 정량기준+무조건 KPI, 앞장). 두 개를 섞지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자유롭게 질문받기. 위 4개는 자주 나오는 질문 예시.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앞으로의 성장 응원.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F7F5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03504" y="27432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pPr indent="0" marL="0">
              <a:buNone/>
            </a:pPr>
            <a:r>
              <a:rPr lang="en-US" sz="66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시즈 오리엔테이션 — 우리가 어떻게 디자이너가 되는가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FIGHTER → SNS → DESIGNER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NOWN · 2026 하반기 · 8월 2째주 → 12월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F7F5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000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디자이너가</a:t>
            </a:r>
            <a:endParaRPr lang="en-US" sz="6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6000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되고 싶어요?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vs DREAM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지금의 나 · 그리고 되고 싶은 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지금의 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(초급)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37192" y="3200400"/>
            <a:ext cx="1828800" cy="1828800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9" name="Text 7"/>
          <p:cNvSpPr/>
          <p:nvPr/>
        </p:nvSpPr>
        <p:spPr>
          <a:xfrm>
            <a:off x="9537192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되고 싶은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디자이너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(이상향)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3520440"/>
            <a:ext cx="6519672" cy="1188720"/>
          </a:xfrm>
          <a:prstGeom prst="rect">
            <a:avLst/>
          </a:prstGeom>
          <a:solidFill>
            <a:srgbClr val="E9E3D8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3520440"/>
            <a:ext cx="6519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나를 찾아오게 만들어야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8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건널 수 있는 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이상향과 지금 사이엔 '강'이 있다 — 손님이 나를 찾아오게 만드는 것.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STONES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못 건넌다 · 디딤돌을 하나씩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지금의 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11512" y="3200400"/>
            <a:ext cx="1828800" cy="1828800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9" name="Text 7"/>
          <p:cNvSpPr/>
          <p:nvPr/>
        </p:nvSpPr>
        <p:spPr>
          <a:xfrm>
            <a:off x="9811512" y="3200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이상향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3497580"/>
            <a:ext cx="868680" cy="868680"/>
          </a:xfrm>
          <a:prstGeom prst="ellipse">
            <a:avLst/>
          </a:prstGeom>
          <a:solidFill>
            <a:srgbClr val="D8C9A8"/>
          </a:solidFill>
          <a:ln w="19050">
            <a:solidFill>
              <a:srgbClr val="A889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4975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78808" y="4137660"/>
            <a:ext cx="868680" cy="868680"/>
          </a:xfrm>
          <a:prstGeom prst="ellipse">
            <a:avLst/>
          </a:prstGeom>
          <a:solidFill>
            <a:srgbClr val="D8C9A8"/>
          </a:solidFill>
          <a:ln w="19050">
            <a:solidFill>
              <a:srgbClr val="A889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41376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0136" y="3497580"/>
            <a:ext cx="868680" cy="868680"/>
          </a:xfrm>
          <a:prstGeom prst="ellipse">
            <a:avLst/>
          </a:prstGeom>
          <a:solidFill>
            <a:srgbClr val="D8C9A8"/>
          </a:solidFill>
          <a:ln w="19050">
            <a:solidFill>
              <a:srgbClr val="A889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34975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41464" y="4137660"/>
            <a:ext cx="868680" cy="868680"/>
          </a:xfrm>
          <a:prstGeom prst="ellipse">
            <a:avLst/>
          </a:prstGeom>
          <a:solidFill>
            <a:srgbClr val="D8C9A8"/>
          </a:solidFill>
          <a:ln w="19050">
            <a:solidFill>
              <a:srgbClr val="A889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41376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22792" y="3497580"/>
            <a:ext cx="868680" cy="868680"/>
          </a:xfrm>
          <a:prstGeom prst="ellipse">
            <a:avLst/>
          </a:prstGeom>
          <a:solidFill>
            <a:srgbClr val="D8C9A8"/>
          </a:solidFill>
          <a:ln w="19050">
            <a:solidFill>
              <a:srgbClr val="A889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22792" y="34975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이상향은 한 걸음에 못 간다 — 초디부터 디딤돌(역경·과정)을 하나씩 밟아 건넌다.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갈래 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디딤돌이냐, 타협이냐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3EEE3"/>
          </a:solidFill>
          <a:ln w="19050">
            <a:solidFill>
              <a:srgbClr val="A889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디딤돌을 하나씩 밟는다  </a:t>
            </a:r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역경·과정을 지난다 → </a:t>
            </a:r>
            <a:pPr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이상향에 닿는다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느려 보여도, 결국 원하는 디자이너가 되는 유일한 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EFEEEC"/>
          </a:solidFill>
          <a:ln w="15875">
            <a:solidFill>
              <a:srgbClr val="C9C3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548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이상향만 높이 잡는다  </a:t>
            </a:r>
            <a:pPr indent="0" marL="0">
              <a:buNone/>
            </a:pPr>
            <a:r>
              <a:rPr lang="en-US" sz="16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디딤돌을 건너뛴다 → 안 된다 → </a:t>
            </a:r>
            <a:pPr indent="0" marL="0">
              <a:buNone/>
            </a:pPr>
            <a:r>
              <a:rPr lang="en-US" sz="1600" b="1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'미용은 그냥 생계수단' → 평범하게 먹고사는 데서 멈춘다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 디딤돌을 생각하는 사람이 드물다 — 우리가 돌아봐야 할 지점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5292" y="2468880"/>
            <a:ext cx="658368" cy="18288"/>
          </a:xfrm>
          <a:prstGeom prst="rect">
            <a:avLst/>
          </a:prstGeom>
          <a:solidFill>
            <a:srgbClr val="A8895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이상향보다,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디딤돌.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초디의 한 걸음이 곧 그 길이다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그림 · 이 순서대로 큰다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→ 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손이랑 마음부터 → 혼자 서는 디자이너까지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291840"/>
            <a:ext cx="640080" cy="64008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4672" y="4069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1·2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완전 기초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" y="48006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가위 잡는 것부터. "왜 이 일을 하는지" 먼저 심고 기본기를 몸에 붙인다.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74136" y="301752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0168" y="3291840"/>
            <a:ext cx="640080" cy="64008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16" name="Text 14"/>
          <p:cNvSpPr/>
          <p:nvPr/>
        </p:nvSpPr>
        <p:spPr>
          <a:xfrm>
            <a:off x="3630168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30168" y="4069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30168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전투원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30168" y="48006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손님 앞에. 배운 걸로 현장에서 부딪히며 실력을 굳힌다.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01752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3291840"/>
            <a:ext cx="640080" cy="64008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55664" y="4069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55664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SNS 소통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55664" y="48006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실력 + 나를 보여주는 힘. SNS로 손님이 나를 찾아오게 만든다.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25128" y="301752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3291840"/>
            <a:ext cx="640080" cy="64008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281160" y="4069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81160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디자이너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281160" y="48006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손님을 오게 하고 끝까지 케어. 여기까지 오면 승급!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코스로 가느냐 · 기간만 다르다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옴므 · 한남 · 청담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옴므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남자 전문 (맨즈)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와이 원장 STAGE 0~7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288036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한남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89120" y="3931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2년 6개월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업스타일 빼고 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 후 마지막 레벨 이수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88036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청담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92440" y="3931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4526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업스타일까지 전부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 커리큘럼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한남은 청담보다 6개월 짧다 — 디자이너가 된 뒤 마지막 레벨 수업을 업스타일만 빼고 이수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무엇을 가르치나 · 정규 70과목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Teachers · 5 Lines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26974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기초(L1·2) → 디자인·시그니처(L3~5)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235440" y="26974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창엽 · 이호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5584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열펌 · 룩북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0" y="335584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남성 열펌·설계 → 여성 디자인 → 룩북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235440" y="33558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106424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1421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콜드펌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0" y="401421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→ 와인딩 → 기법 → 디자인 → 트렌드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35440" y="40142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54296"/>
            <a:ext cx="1106424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7258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업스타일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43200" y="4672584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드라이·브레이드 → 업스타일 → 방송헤어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35440" y="46725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106424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3095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디자인 방법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43200" y="533095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열펌 기초 → 질감 → 형용사 → 이미지·구조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35440" y="533095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971032"/>
            <a:ext cx="1106424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맨즈(옴므)는 와이 원장 STAGE 0~7 별도 줄기 · 특강(연교·재아·승현) 매월 3째주 금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하반기 · 언제 어떻게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8/10 → 12/6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457200" cy="45720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정규교육 8월 2째주 ~ 12월 첫주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4440" y="2999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화·수·목·금·일에 배분 (월·토 휴무), 아침 07:30~09:30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4015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다르면 같은 날 병행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레벨(캘린더 L태그) 과목만 들으면 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242816"/>
            <a:ext cx="457200" cy="45720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15137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모델데이 — 매월 2·4째주 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34440" y="44988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2명 이상일 때 시행 · 저녁 작업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992624"/>
            <a:ext cx="457200" cy="45720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901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특강 — 매월 3째주 금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34440" y="52486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와이 · 연교 · 신후 · 재아 · 승현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457200" cy="457200"/>
          </a:xfrm>
          <a:prstGeom prst="ellipse">
            <a:avLst/>
          </a:prstGeom>
          <a:solidFill>
            <a:srgbClr val="1A181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742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650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입봉시험 — 12/21 (월)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234440" y="59984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종료 후 2주 여유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시즈가 지킬 것 · 준비물 · 과제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Ready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035808"/>
            <a:ext cx="164592" cy="164592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9260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준비물은 전날까지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4564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도구·마네킹·약제를 미리 챙겨 온다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3035808"/>
            <a:ext cx="164592" cy="164592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29260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과제는 다음 수업 전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0" y="34564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촬영본·리포트로 제출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608576"/>
            <a:ext cx="164592" cy="164592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449884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가발·모델모는 신중히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준비부터가 시험 시작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24528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608576"/>
            <a:ext cx="164592" cy="164592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449884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모르면 바로 물어보기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583680" y="5029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과목별 상세는 배포 문서에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797296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1A1815"/>
          </a:solidFill>
          <a:ln/>
          <a:effectLst>
            <a:outerShdw sx="100000" sy="100000" kx="0" ky="0" algn="bl" rotWithShape="0" blurRad="88900" dist="25400" dir="5400000">
              <a:srgbClr val="C9BFA8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5797296"/>
            <a:ext cx="11109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준비된 손이  </a:t>
            </a:r>
            <a:pPr algn="ctr" indent="0" marL="0">
              <a:buNone/>
            </a:pPr>
            <a:r>
              <a:rPr lang="en-US" sz="24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디자인이 된다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SHOW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헤어디자이너 쇼 기준 · 승급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헤어디자이너 쇼 기준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A1815"/>
          </a:solidFill>
          <a:ln/>
          <a:effectLst>
            <a:outerShdw sx="100000" sy="100000" kx="0" ky="0" algn="bl" rotWithShape="0" blurRad="88900" dist="25400" dir="5400000">
              <a:srgbClr val="C9BFA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시그니처 쇼</a:t>
            </a:r>
            <a:pPr indent="0" marL="0">
              <a:buNone/>
            </a:pPr>
            <a:r>
              <a:rPr lang="en-US" sz="1800" dirty="0">
                <a:solidFill>
                  <a:srgbClr val="D7D1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인스타 헤어쇼 · 디렉터 입회 · 기획력·PPT력·노출력으로 증명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3310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 기준 성립 — </a:t>
            </a:r>
            <a:pPr indent="0" marL="0">
              <a:buNone/>
            </a:pPr>
            <a:r>
              <a:rPr lang="en-US" sz="1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4레벨</a:t>
            </a:r>
            <a:pPr indent="0" marL="0"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정량기준 </a:t>
            </a:r>
            <a:pPr indent="0" marL="0">
              <a:buNone/>
            </a:pPr>
            <a:r>
              <a:rPr lang="en-US" sz="14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pPr indent="0" marL="0">
              <a:buNone/>
            </a:pPr>
            <a:r>
              <a:rPr lang="en-US" sz="140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5레벨</a:t>
            </a:r>
            <a:pPr indent="0" marL="0">
              <a:buNone/>
            </a:pPr>
            <a:r>
              <a:rPr lang="en-US" sz="140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통과 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03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정량 기준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A889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397764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30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93492" y="397764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A889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9212" y="397764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 3개월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0056" y="397764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A889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397764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300~400만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46620" y="397764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A889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2340" y="397764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월 10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73184" y="397764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A889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8904" y="397764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50명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무조건 디자이너 되는 KPI</a:t>
            </a:r>
            <a:pPr indent="0" marL="0">
              <a:buNone/>
            </a:pPr>
            <a:r>
              <a:rPr lang="en-US" sz="1150" spc="100" kern="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최종 조건 달성 시 쇼·정량 기준과 무관하게 승급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A8895E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" y="507492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100명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93492" y="507492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A8895E"/>
          </a:solidFill>
          <a:ln/>
        </p:spPr>
      </p:sp>
      <p:sp>
        <p:nvSpPr>
          <p:cNvPr id="25" name="Text 23"/>
          <p:cNvSpPr/>
          <p:nvPr/>
        </p:nvSpPr>
        <p:spPr>
          <a:xfrm>
            <a:off x="2839212" y="507492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500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0056" y="507492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A8895E"/>
          </a:solidFill>
          <a:ln/>
        </p:spPr>
      </p:sp>
      <p:sp>
        <p:nvSpPr>
          <p:cNvPr id="27" name="Text 25"/>
          <p:cNvSpPr/>
          <p:nvPr/>
        </p:nvSpPr>
        <p:spPr>
          <a:xfrm>
            <a:off x="5065776" y="507492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시그니처 60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46620" y="507492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A8895E"/>
          </a:solidFill>
          <a:ln/>
        </p:spPr>
      </p:sp>
      <p:sp>
        <p:nvSpPr>
          <p:cNvPr id="29" name="Text 27"/>
          <p:cNvSpPr/>
          <p:nvPr/>
        </p:nvSpPr>
        <p:spPr>
          <a:xfrm>
            <a:off x="7292340" y="507492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70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73184" y="5074920"/>
            <a:ext cx="2157984" cy="566928"/>
          </a:xfrm>
          <a:prstGeom prst="roundRect">
            <a:avLst>
              <a:gd name="adj" fmla="val 19355"/>
            </a:avLst>
          </a:prstGeom>
          <a:solidFill>
            <a:srgbClr val="A8895E"/>
          </a:solidFill>
          <a:ln/>
        </p:spPr>
      </p:sp>
      <p:sp>
        <p:nvSpPr>
          <p:cNvPr id="31" name="Text 29"/>
          <p:cNvSpPr/>
          <p:nvPr/>
        </p:nvSpPr>
        <p:spPr>
          <a:xfrm>
            <a:off x="9518904" y="507492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10만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— 1·2레벨 주 1개 / 3·4레벨 주 2개 (나의 생각·연습)로 나를 알리는 힘까지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1A18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직급(레벨) 승급심사 · 점수 계산표 · 만점 100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직급 승급, 이렇게 채점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40680" cy="475488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27203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시즈 1~3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24912" y="2514600"/>
            <a:ext cx="3081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 75점↑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99008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990088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3과목 × 15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5440680" cy="512064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0215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502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3502152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16회↑ 3점·매일 40분↑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0142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014216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4014216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10회↑ 10점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440680" cy="512064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262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팀교육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452628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4526280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매달 1회·총 5회 (확인 후 카톡 보고)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03834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5038344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51760" y="5038344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내 이행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50408"/>
            <a:ext cx="5440680" cy="512064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55040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20240" y="55504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51760" y="5550408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91072" y="2514600"/>
            <a:ext cx="5440680" cy="475488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2514600"/>
            <a:ext cx="27203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시즈 4~5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7344" y="2514600"/>
            <a:ext cx="3081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 80점↑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73952" y="299008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62672" y="299008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94192" y="2990088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과목(각 15)·준비물 감점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91072" y="3502152"/>
            <a:ext cx="5440680" cy="512064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350215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62672" y="3502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94192" y="3502152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시그니처 5개월 30개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73952" y="40142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662672" y="4014216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94192" y="4014216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91072" y="4526280"/>
            <a:ext cx="5440680" cy="512064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45" name="Text 43"/>
          <p:cNvSpPr/>
          <p:nvPr/>
        </p:nvSpPr>
        <p:spPr>
          <a:xfrm>
            <a:off x="6473952" y="45262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교육과제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62672" y="452628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94192" y="4526280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내 이행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73952" y="503834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태도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662672" y="5038344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94192" y="5038344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지각 회당 -1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91072" y="5550408"/>
            <a:ext cx="5440680" cy="512064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52" name="Text 50"/>
          <p:cNvSpPr/>
          <p:nvPr/>
        </p:nvSpPr>
        <p:spPr>
          <a:xfrm>
            <a:off x="6473952" y="555040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662672" y="55504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94192" y="5550408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횟수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이건 직급(레벨) 승급 채점표 · 디자이너 승급(헤어쇼 기준·무조건 KPI)은 앞장 참고 — 둘은 다릅니다.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" cy="384048"/>
          </a:xfrm>
          <a:prstGeom prst="rect">
            <a:avLst/>
          </a:prstGeom>
          <a:noFill/>
          <a:ln w="12700">
            <a:solidFill>
              <a:srgbClr val="F7F5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24128" y="384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4392" y="402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58368" cy="18288"/>
          </a:xfrm>
          <a:prstGeom prst="rect">
            <a:avLst/>
          </a:prstGeom>
          <a:solidFill>
            <a:srgbClr val="A8895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031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레벨 수업만 들으면 되나요?  </a:t>
            </a:r>
            <a:pPr indent="0" marL="0">
              <a:buNone/>
            </a:pPr>
            <a:r>
              <a:rPr lang="en-US" sz="135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— 캘린더의 내 레벨(L태그) 과목만.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3159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준비물은 어디서 봐요?  </a:t>
            </a:r>
            <a:pPr indent="0" marL="0">
              <a:buNone/>
            </a:pPr>
            <a:r>
              <a:rPr lang="en-US" sz="135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「과목별 준비물·과제·주의」 문서 (선생님별).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9743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497433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디자이너는 어떻게 되나요?  </a:t>
            </a:r>
            <a:pPr indent="0" marL="0">
              <a:buNone/>
            </a:pPr>
            <a:r>
              <a:rPr lang="en-US" sz="135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시그니처 쇼 — 4레벨 50%·5레벨 80% 통과 시.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6327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563270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모델데이·특강은 언제?  </a:t>
            </a:r>
            <a:pPr indent="0" marL="0">
              <a:buNone/>
            </a:pPr>
            <a:r>
              <a:rPr lang="en-US" sz="1350" dirty="0">
                <a:solidFill>
                  <a:srgbClr val="C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2·4주 금(모델) · 3주 금(특강).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5292" y="2286000"/>
            <a:ext cx="658368" cy="18288"/>
          </a:xfrm>
          <a:prstGeom prst="rect">
            <a:avLst/>
          </a:prstGeom>
          <a:solidFill>
            <a:srgbClr val="A8895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손이랑 마음부터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혼자 서는 디자이너까지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NOWN · 2026 EDUCATION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2026-07-30T04:08:15Z</dcterms:created>
  <dcterms:modified xsi:type="dcterms:W3CDTF">2026-07-30T04:08:15Z</dcterms:modified>
</cp:coreProperties>
</file>