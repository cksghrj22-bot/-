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오프닝. 워드월 직후. 갈라짐 도식 하나만 화면에. 아무 말 없이 '?'가 프리즘을 지나 여러 갈래로 갈라진다. '이게 뭘까요?' 궁금증만 남긴다. 다음 장에서 열펌이 들어간다.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도입 도식의 reveal + 제목. 앞 장의 갈라짐이 곧 '열펌'을 쪼갠 것이었다. 이제 열펌이 프리즘으로 들어가 열·약·커트·공간으로 갈라진다.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공부는 분해에서 시작. 오늘은 하나를 깊게 파는 날이 아니라 브레인스토밍처럼 넓게 몇 가지를 집어보는 날. 5개 순서.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먼저 '열펌'이란 글자 그 자체를 쪼갠다. 열 + 펌. 열은 왜 필요한가, 펌이란 무엇인가. 롤러볼의 간접열과 판이 직접 닿는 디지털·세팅의 열은 같은 열인가?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40~55도는 수분·시간이 일하는 저온. 100도 넘으면 수분 날리며 형태 굳힘. 140도부터 단백질 변형. 열펌=열로 사람을 편하게. 열은 적이 아니라 도구.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성희 부원장이 쓰던 약을 내가 직접 분해해봤다. 열펌제=연화제+환원제. 팩(점증)이 과연화를 막는 브레이크라 꾸덕. 환원제가 결합 풀어 부드럽게, 과하지 않게 컬. 남의 약도 분해하면 내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번째: 손상·모질에 따른 약제 구분. 크림·에멀전·겔·물(수분). 크림은 침투제 많아 녹이는 힘 강함(강곱슬·건강모). 에멀전은 중간. 겔·액체는 못 녹이는 대신 섬세 컨트롤(손상모). 물=수분 컨트롤. 좋은 약이 아니라 맞는 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이론 텍스트가 아니라 그림으로. 옛날부터 쓰던 곱슬 모양표 + 연화·볼륨 줄며 이미지 달라지는 표. 핀터레스트 스타일 이미지로 채우기.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번째: 커트와 펌은 공간의 문제. 같은 C컬, 접힐 자리를 커트로 얇게 걷어내면(숟가락으로 콘푸라이트 뜨듯 점선 자리) 열 100이 아니라 50으로 같은 컬. 손상 절반, 약도 순하게. 커트는 펌의 보조가 아니라 절반.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걷어내면 잘 접힌다(작용). 너무 걷어내면 부스스해진다(반작용). 매 커트마다 무엇을 취하고 무엇을 버릴지.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'펌이 살아났어요'가 아니라 '이제야 보여요'. 검은 바탕 위 검은 줄은 안 보인다. 바탕이 밝아질수록 보인다. 공간이 생겨야 컬이 보인다. 강하게 말았는데 금방 풀려 보이면 공간이 없는 것 — 디자이너 몫.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번째: Q&amp;A. 워드월에 올라온 '궁금한 것'을 여기서 함께 푼다. 못 다룬 건 시트에 남아 다음 교육 소재로.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번째: 실험. 모다발로 제품별 비교. PB, 이찌마루, 아모스 S, 시세이도 M — 같은 모다발을 나눠 제품만 바꿔 결과를 눈으로. 이번 과정의 확인이자 숙제.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실험은 기록이 실력. 한 모다발=한 데이터. 진단→선택(제품·온도·시간)→결과 사진→다음에 바꿀 것 한 줄. 감이 아니라 데이터로 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클로징. 워드월로 돌아가 '지금 다시 쓰면 열펌이란?' 한 번 더. 숙제: 배운 점 정리 + 모다발 비교 사진 PDF(조건 하나만 바꿔).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280659" y="2614041"/>
            <a:ext cx="1417321" cy="1629918"/>
          </a:xfrm>
          <a:custGeom>
            <a:avLst/>
            <a:gdLst/>
            <a:ahLst/>
            <a:cxnLst/>
            <a:rect l="l" t="t" r="r" b="b"/>
            <a:pathLst>
              <a:path w="1417321" h="1629918">
                <a:moveTo>
                  <a:pt x="708661" y="0"/>
                </a:moveTo>
                <a:lnTo>
                  <a:pt x="0" y="1629918"/>
                </a:lnTo>
                <a:lnTo>
                  <a:pt x="1417321" y="1629918"/>
                </a:lnTo>
                <a:close/>
              </a:path>
            </a:pathLst>
          </a:custGeom>
          <a:solidFill>
            <a:srgbClr val="FBF8F1"/>
          </a:solidFill>
          <a:ln w="33020">
            <a:solidFill>
              <a:srgbClr val="242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3296412" y="3429000"/>
            <a:ext cx="2125980" cy="0"/>
          </a:xfrm>
          <a:prstGeom prst="line">
            <a:avLst/>
          </a:prstGeom>
          <a:ln w="3048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516885" y="3044952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B24A2E"/>
                </a:solidFill>
                <a:latin typeface="Apple SD Gothic Neo"/>
                <a:ea typeface="Apple SD Gothic Neo"/>
              </a:rPr>
              <a:t>?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6556248" y="1019556"/>
            <a:ext cx="2692908" cy="2409444"/>
          </a:xfrm>
          <a:prstGeom prst="line">
            <a:avLst/>
          </a:prstGeom>
          <a:ln w="3302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556248" y="2625852"/>
            <a:ext cx="2692908" cy="803148"/>
          </a:xfrm>
          <a:prstGeom prst="line">
            <a:avLst/>
          </a:prstGeom>
          <a:ln w="33020">
            <a:solidFill>
              <a:srgbClr val="9A7B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56248" y="3429000"/>
            <a:ext cx="2692908" cy="803148"/>
          </a:xfrm>
          <a:prstGeom prst="line">
            <a:avLst/>
          </a:prstGeom>
          <a:ln w="3302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56248" y="3429000"/>
            <a:ext cx="2692908" cy="2409444"/>
          </a:xfrm>
          <a:prstGeom prst="line">
            <a:avLst/>
          </a:prstGeom>
          <a:ln w="33020">
            <a:solidFill>
              <a:srgbClr val="7A72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24A2E"/>
                </a:solidFill>
                <a:latin typeface="Apple SD Gothic Neo"/>
                <a:ea typeface="Apple SD Gothic Neo"/>
              </a:rPr>
              <a:t>AT NOWN 교육 · 특강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86968" y="1024128"/>
            <a:ext cx="103327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194560"/>
            <a:ext cx="7498079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0" b="1">
                <a:solidFill>
                  <a:srgbClr val="24201A"/>
                </a:solidFill>
                <a:latin typeface="Apple SD Gothic Neo"/>
                <a:ea typeface="Apple SD Gothic Neo"/>
              </a:rPr>
              <a:t>열펌의 모든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84048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>
                <a:solidFill>
                  <a:srgbClr val="7A7264"/>
                </a:solidFill>
                <a:latin typeface="Apple SD Gothic Neo"/>
                <a:ea typeface="Apple SD Gothic Neo"/>
              </a:rPr>
              <a:t>— 분해하다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292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7A7264"/>
                </a:solidFill>
                <a:latin typeface="Apple SD Gothic Neo"/>
                <a:ea typeface="Apple SD Gothic Neo"/>
              </a:rPr>
              <a:t>차노 · 2026. 7. 16 · 앳나운플레이스 3F</a:t>
            </a:r>
          </a:p>
        </p:txBody>
      </p:sp>
      <p:sp>
        <p:nvSpPr>
          <p:cNvPr id="8" name="Freeform 7"/>
          <p:cNvSpPr/>
          <p:nvPr/>
        </p:nvSpPr>
        <p:spPr>
          <a:xfrm>
            <a:off x="8503920" y="3040380"/>
            <a:ext cx="914400" cy="1051559"/>
          </a:xfrm>
          <a:custGeom>
            <a:avLst/>
            <a:gdLst/>
            <a:ahLst/>
            <a:cxnLst/>
            <a:rect l="l" t="t" r="r" b="b"/>
            <a:pathLst>
              <a:path w="914400" h="1051559">
                <a:moveTo>
                  <a:pt x="457200" y="0"/>
                </a:moveTo>
                <a:lnTo>
                  <a:pt x="0" y="1051559"/>
                </a:lnTo>
                <a:lnTo>
                  <a:pt x="914400" y="1051559"/>
                </a:lnTo>
                <a:close/>
              </a:path>
            </a:pathLst>
          </a:custGeom>
          <a:solidFill>
            <a:srgbClr val="FBF8F1"/>
          </a:solidFill>
          <a:ln w="33020">
            <a:solidFill>
              <a:srgbClr val="242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543800" y="3566160"/>
            <a:ext cx="1051560" cy="0"/>
          </a:xfrm>
          <a:prstGeom prst="line">
            <a:avLst/>
          </a:prstGeom>
          <a:ln w="3048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06640" y="3090672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4201A"/>
                </a:solidFill>
                <a:latin typeface="Apple SD Gothic Neo"/>
                <a:ea typeface="Apple SD Gothic Neo"/>
              </a:rPr>
              <a:t>열펌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9326880" y="2011680"/>
            <a:ext cx="1737360" cy="1554480"/>
          </a:xfrm>
          <a:prstGeom prst="line">
            <a:avLst/>
          </a:prstGeom>
          <a:ln w="3302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137392" y="1792224"/>
            <a:ext cx="12801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24A2E"/>
                </a:solidFill>
                <a:latin typeface="Apple SD Gothic Neo"/>
                <a:ea typeface="Apple SD Gothic Neo"/>
              </a:rPr>
              <a:t>열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9326880" y="3047999"/>
            <a:ext cx="1737360" cy="518161"/>
          </a:xfrm>
          <a:prstGeom prst="line">
            <a:avLst/>
          </a:prstGeom>
          <a:ln w="33020">
            <a:solidFill>
              <a:srgbClr val="9A7B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137392" y="2828543"/>
            <a:ext cx="12801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9A7B33"/>
                </a:solidFill>
                <a:latin typeface="Apple SD Gothic Neo"/>
                <a:ea typeface="Apple SD Gothic Neo"/>
              </a:rPr>
              <a:t>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26880" y="3566160"/>
            <a:ext cx="1737360" cy="518160"/>
          </a:xfrm>
          <a:prstGeom prst="line">
            <a:avLst/>
          </a:prstGeom>
          <a:ln w="3302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137392" y="3864864"/>
            <a:ext cx="12801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4201A"/>
                </a:solidFill>
                <a:latin typeface="Apple SD Gothic Neo"/>
                <a:ea typeface="Apple SD Gothic Neo"/>
              </a:rPr>
              <a:t>커트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26880" y="3566160"/>
            <a:ext cx="1737360" cy="1554480"/>
          </a:xfrm>
          <a:prstGeom prst="line">
            <a:avLst/>
          </a:prstGeom>
          <a:ln w="33020">
            <a:solidFill>
              <a:srgbClr val="7A72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137392" y="4901183"/>
            <a:ext cx="12801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A7264"/>
                </a:solidFill>
                <a:latin typeface="Apple SD Gothic Neo"/>
                <a:ea typeface="Apple SD Gothic Neo"/>
              </a:rPr>
              <a:t>공간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24A2E"/>
                </a:solidFill>
                <a:latin typeface="Apple SD Gothic Neo"/>
                <a:ea typeface="Apple SD Gothic Neo"/>
              </a:rPr>
              <a:t>오늘의 지도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4201A"/>
                </a:solidFill>
                <a:latin typeface="Apple SD Gothic Neo"/>
                <a:ea typeface="Apple SD Gothic Neo"/>
              </a:rPr>
              <a:t>공부한다는 건, 분해한다는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2029968" cy="219456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61488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B24A2E"/>
                </a:solidFill>
                <a:latin typeface="Apple SD Gothic Neo"/>
                <a:ea typeface="Apple SD Gothic Neo"/>
              </a:rPr>
              <a:t>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69848" y="3218688"/>
            <a:ext cx="530352" cy="0"/>
          </a:xfrm>
          <a:prstGeom prst="line">
            <a:avLst/>
          </a:prstGeom>
          <a:ln w="1524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51560" y="3346704"/>
            <a:ext cx="1691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4201A"/>
                </a:solidFill>
                <a:latin typeface="Apple SD Gothic Neo"/>
                <a:ea typeface="Apple SD Gothic Neo"/>
              </a:rPr>
              <a:t>분해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114800"/>
            <a:ext cx="1691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A7264"/>
                </a:solidFill>
                <a:latin typeface="Apple SD Gothic Neo"/>
                <a:ea typeface="Apple SD Gothic Neo"/>
              </a:rPr>
              <a:t>약과 '열펌'을 쪼갠다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35808" y="2560320"/>
            <a:ext cx="2029968" cy="219456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2761488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B24A2E"/>
                </a:solidFill>
                <a:latin typeface="Apple SD Gothic Neo"/>
                <a:ea typeface="Apple SD Gothic Neo"/>
              </a:rPr>
              <a:t>02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82696" y="3218688"/>
            <a:ext cx="530352" cy="0"/>
          </a:xfrm>
          <a:prstGeom prst="line">
            <a:avLst/>
          </a:prstGeom>
          <a:ln w="1524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64408" y="3346704"/>
            <a:ext cx="1691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4201A"/>
                </a:solidFill>
                <a:latin typeface="Apple SD Gothic Neo"/>
                <a:ea typeface="Apple SD Gothic Neo"/>
              </a:rPr>
              <a:t>모질·약제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4114800"/>
            <a:ext cx="1691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A7264"/>
                </a:solidFill>
                <a:latin typeface="Apple SD Gothic Neo"/>
                <a:ea typeface="Apple SD Gothic Neo"/>
              </a:rPr>
              <a:t>크림·에멀전·겔·물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48656" y="2560320"/>
            <a:ext cx="2029968" cy="219456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77256" y="2761488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B24A2E"/>
                </a:solidFill>
                <a:latin typeface="Apple SD Gothic Neo"/>
                <a:ea typeface="Apple SD Gothic Neo"/>
              </a:rPr>
              <a:t>03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95544" y="3218688"/>
            <a:ext cx="530352" cy="0"/>
          </a:xfrm>
          <a:prstGeom prst="line">
            <a:avLst/>
          </a:prstGeom>
          <a:ln w="1524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77256" y="3346704"/>
            <a:ext cx="1691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4201A"/>
                </a:solidFill>
                <a:latin typeface="Apple SD Gothic Neo"/>
                <a:ea typeface="Apple SD Gothic Neo"/>
              </a:rPr>
              <a:t>커트=공간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7256" y="4114800"/>
            <a:ext cx="1691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A7264"/>
                </a:solidFill>
                <a:latin typeface="Apple SD Gothic Neo"/>
                <a:ea typeface="Apple SD Gothic Neo"/>
              </a:rPr>
              <a:t>펌이 살아났다 · 접기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61504" y="2560320"/>
            <a:ext cx="2029968" cy="219456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0104" y="2761488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B24A2E"/>
                </a:solidFill>
                <a:latin typeface="Apple SD Gothic Neo"/>
                <a:ea typeface="Apple SD Gothic Neo"/>
              </a:rPr>
              <a:t>04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08392" y="3218688"/>
            <a:ext cx="530352" cy="0"/>
          </a:xfrm>
          <a:prstGeom prst="line">
            <a:avLst/>
          </a:prstGeom>
          <a:ln w="1524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90104" y="3346704"/>
            <a:ext cx="1691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4201A"/>
                </a:solidFill>
                <a:latin typeface="Apple SD Gothic Neo"/>
                <a:ea typeface="Apple SD Gothic Neo"/>
              </a:rPr>
              <a:t>Q&amp;A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0104" y="4114800"/>
            <a:ext cx="1691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A7264"/>
                </a:solidFill>
                <a:latin typeface="Apple SD Gothic Neo"/>
                <a:ea typeface="Apple SD Gothic Neo"/>
              </a:rPr>
              <a:t>궁금한 것부터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74352" y="2560320"/>
            <a:ext cx="2029968" cy="219456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02952" y="2761488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B24A2E"/>
                </a:solidFill>
                <a:latin typeface="Apple SD Gothic Neo"/>
                <a:ea typeface="Apple SD Gothic Neo"/>
              </a:rPr>
              <a:t>05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921240" y="3218688"/>
            <a:ext cx="530352" cy="0"/>
          </a:xfrm>
          <a:prstGeom prst="line">
            <a:avLst/>
          </a:prstGeom>
          <a:ln w="1524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902952" y="3346704"/>
            <a:ext cx="1691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4201A"/>
                </a:solidFill>
                <a:latin typeface="Apple SD Gothic Neo"/>
                <a:ea typeface="Apple SD Gothic Neo"/>
              </a:rPr>
              <a:t>실험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4114800"/>
            <a:ext cx="1691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A7264"/>
                </a:solidFill>
                <a:latin typeface="Apple SD Gothic Neo"/>
                <a:ea typeface="Apple SD Gothic Neo"/>
              </a:rPr>
              <a:t>모다발 · 제품 비교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24201A"/>
                </a:solidFill>
                <a:latin typeface="Apple SD Gothic Neo"/>
                <a:ea typeface="Apple SD Gothic Neo"/>
              </a:rPr>
              <a:t>쪼개봐야 내 것이 됩니다.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24A2E"/>
                </a:solidFill>
                <a:latin typeface="Apple SD Gothic Neo"/>
                <a:ea typeface="Apple SD Gothic Neo"/>
              </a:rPr>
              <a:t>① 분해 — '열펌'이라는 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4201A"/>
                </a:solidFill>
                <a:latin typeface="Apple SD Gothic Neo"/>
                <a:ea typeface="Apple SD Gothic Neo"/>
              </a:rPr>
              <a:t>'열펌'이라는 말부터 쪼갭니다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2194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0" b="1">
                <a:solidFill>
                  <a:srgbClr val="24201A"/>
                </a:solidFill>
                <a:latin typeface="Apple SD Gothic Neo"/>
                <a:ea typeface="Apple SD Gothic Neo"/>
              </a:rPr>
              <a:t>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514600"/>
            <a:ext cx="2194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0" b="1">
                <a:solidFill>
                  <a:srgbClr val="24201A"/>
                </a:solidFill>
                <a:latin typeface="Apple SD Gothic Neo"/>
                <a:ea typeface="Apple SD Gothic Neo"/>
              </a:rPr>
              <a:t>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2468880"/>
            <a:ext cx="0" cy="2103120"/>
          </a:xfrm>
          <a:prstGeom prst="line">
            <a:avLst/>
          </a:prstGeom>
          <a:ln w="25400">
            <a:solidFill>
              <a:srgbClr val="B24A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0" y="2743200"/>
            <a:ext cx="5852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24201A"/>
                </a:solidFill>
                <a:latin typeface="Apple SD Gothic Neo"/>
                <a:ea typeface="Apple SD Gothic Neo"/>
              </a:rPr>
              <a:t>열은 왜 필요한가?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611880"/>
            <a:ext cx="5852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24201A"/>
                </a:solidFill>
                <a:latin typeface="Apple SD Gothic Neo"/>
                <a:ea typeface="Apple SD Gothic Neo"/>
              </a:rPr>
              <a:t>펌이란 무엇인가?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572000"/>
            <a:ext cx="5852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7A7264"/>
                </a:solidFill>
                <a:latin typeface="Apple SD Gothic Neo"/>
                <a:ea typeface="Apple SD Gothic Neo"/>
              </a:rPr>
              <a:t>롤러볼의 열과, 판이 직접 닿는 열은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7A7264"/>
                </a:solidFill>
                <a:latin typeface="Apple SD Gothic Neo"/>
                <a:ea typeface="Apple SD Gothic Neo"/>
              </a:rPr>
              <a:t>같은 열일까요?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24A2E"/>
                </a:solidFill>
                <a:latin typeface="Apple SD Gothic Neo"/>
                <a:ea typeface="Apple SD Gothic Neo"/>
              </a:rPr>
              <a:t>① 분해 — 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4201A"/>
                </a:solidFill>
                <a:latin typeface="Apple SD Gothic Neo"/>
                <a:ea typeface="Apple SD Gothic Neo"/>
              </a:rPr>
              <a:t>열마다 하는 일이 다릅니다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108960"/>
            <a:ext cx="10332720" cy="0"/>
          </a:xfrm>
          <a:prstGeom prst="line">
            <a:avLst/>
          </a:prstGeom>
          <a:ln w="2540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21054" y="2999232"/>
            <a:ext cx="0" cy="219456"/>
          </a:xfrm>
          <a:prstGeom prst="line">
            <a:avLst/>
          </a:prstGeom>
          <a:ln w="38100">
            <a:solidFill>
              <a:srgbClr val="9A7B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6734" y="224028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9A7B33"/>
                </a:solidFill>
                <a:latin typeface="Apple SD Gothic Neo"/>
                <a:ea typeface="Apple SD Gothic Neo"/>
              </a:rPr>
              <a:t>40–55°C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3894" y="3383279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A7264"/>
                </a:solidFill>
                <a:latin typeface="Apple SD Gothic Neo"/>
                <a:ea typeface="Apple SD Gothic Neo"/>
              </a:rPr>
              <a:t>수분과 시간이 일하는 구간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7A7264"/>
                </a:solidFill>
                <a:latin typeface="Apple SD Gothic Neo"/>
                <a:ea typeface="Apple SD Gothic Neo"/>
              </a:rPr>
              <a:t>건강한 물결 · 저온 세팅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47488" y="2999232"/>
            <a:ext cx="0" cy="219456"/>
          </a:xfrm>
          <a:prstGeom prst="line">
            <a:avLst/>
          </a:prstGeom>
          <a:ln w="3810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73168" y="224028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4201A"/>
                </a:solidFill>
                <a:latin typeface="Apple SD Gothic Neo"/>
                <a:ea typeface="Apple SD Gothic Neo"/>
              </a:rPr>
              <a:t>100°C 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3383279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A7264"/>
                </a:solidFill>
                <a:latin typeface="Apple SD Gothic Neo"/>
                <a:ea typeface="Apple SD Gothic Neo"/>
              </a:rPr>
              <a:t>수분을 날리며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7A7264"/>
                </a:solidFill>
                <a:latin typeface="Apple SD Gothic Neo"/>
                <a:ea typeface="Apple SD Gothic Neo"/>
              </a:rPr>
              <a:t>형태를 굳히는 구간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60612" y="2999232"/>
            <a:ext cx="0" cy="219456"/>
          </a:xfrm>
          <a:prstGeom prst="line">
            <a:avLst/>
          </a:prstGeom>
          <a:ln w="3810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86292" y="224028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24A2E"/>
                </a:solidFill>
                <a:latin typeface="Apple SD Gothic Neo"/>
                <a:ea typeface="Apple SD Gothic Neo"/>
              </a:rPr>
              <a:t>140°C ~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3452" y="3383279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A7264"/>
                </a:solidFill>
                <a:latin typeface="Apple SD Gothic Neo"/>
                <a:ea typeface="Apple SD Gothic Neo"/>
              </a:rPr>
              <a:t>단백질 변형이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7A7264"/>
                </a:solidFill>
                <a:latin typeface="Apple SD Gothic Neo"/>
                <a:ea typeface="Apple SD Gothic Neo"/>
              </a:rPr>
              <a:t>시작되는 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24201A"/>
                </a:solidFill>
                <a:latin typeface="Apple SD Gothic Neo"/>
                <a:ea typeface="Apple SD Gothic Neo"/>
              </a:rPr>
              <a:t>열펌은 열로 사람을 편하게 만드는 시술입니다.</a:t>
            </a:r>
          </a:p>
          <a:p>
            <a:pPr algn="l">
              <a:lnSpc>
                <a:spcPct val="120000"/>
              </a:lnSpc>
            </a:pPr>
            <a:r>
              <a:rPr sz="2400" b="0">
                <a:solidFill>
                  <a:srgbClr val="24201A"/>
                </a:solidFill>
                <a:latin typeface="Apple SD Gothic Neo"/>
                <a:ea typeface="Apple SD Gothic Neo"/>
              </a:rPr>
              <a:t>열은 적이 아니라 도구예요.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24A2E"/>
                </a:solidFill>
                <a:latin typeface="Apple SD Gothic Neo"/>
                <a:ea typeface="Apple SD Gothic Neo"/>
              </a:rPr>
              <a:t>① 분해 — 약 (직접 분해해 본 것)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4201A"/>
                </a:solidFill>
                <a:latin typeface="Apple SD Gothic Neo"/>
                <a:ea typeface="Apple SD Gothic Neo"/>
              </a:rPr>
              <a:t>약도 쪼개집니다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3200400" cy="196596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97280" y="2880360"/>
            <a:ext cx="502920" cy="0"/>
          </a:xfrm>
          <a:prstGeom prst="line">
            <a:avLst/>
          </a:prstGeom>
          <a:ln w="38100">
            <a:solidFill>
              <a:srgbClr val="9A7B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97280" y="29718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4201A"/>
                </a:solidFill>
                <a:latin typeface="Apple SD Gothic Neo"/>
                <a:ea typeface="Apple SD Gothic Neo"/>
              </a:rPr>
              <a:t>연화제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118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A7264"/>
                </a:solidFill>
                <a:latin typeface="Apple SD Gothic Neo"/>
                <a:ea typeface="Apple SD Gothic Neo"/>
              </a:rPr>
              <a:t>머리를 부드럽게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7A7264"/>
                </a:solidFill>
                <a:latin typeface="Apple SD Gothic Neo"/>
                <a:ea typeface="Apple SD Gothic Neo"/>
              </a:rPr>
              <a:t>여는 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108960"/>
            <a:ext cx="457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7A7264"/>
                </a:solidFill>
                <a:latin typeface="Apple SD Gothic Neo"/>
                <a:ea typeface="Apple SD Gothic Neo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514600"/>
            <a:ext cx="3200400" cy="196596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754880" y="2880360"/>
            <a:ext cx="502920" cy="0"/>
          </a:xfrm>
          <a:prstGeom prst="line">
            <a:avLst/>
          </a:prstGeom>
          <a:ln w="3810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54880" y="29718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4201A"/>
                </a:solidFill>
                <a:latin typeface="Apple SD Gothic Neo"/>
                <a:ea typeface="Apple SD Gothic Neo"/>
              </a:rPr>
              <a:t>팩 · 점증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6118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A7264"/>
                </a:solidFill>
                <a:latin typeface="Apple SD Gothic Neo"/>
                <a:ea typeface="Apple SD Gothic Neo"/>
              </a:rPr>
              <a:t>과연화를 막는 브레이크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7A7264"/>
                </a:solidFill>
                <a:latin typeface="Apple SD Gothic Neo"/>
                <a:ea typeface="Apple SD Gothic Neo"/>
              </a:rPr>
              <a:t>약이 꾸덕한 진짜 이유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108960"/>
            <a:ext cx="457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7A7264"/>
                </a:solidFill>
                <a:latin typeface="Apple SD Gothic Neo"/>
                <a:ea typeface="Apple SD Gothic Neo"/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514600"/>
            <a:ext cx="3200400" cy="196596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412480" y="2880360"/>
            <a:ext cx="502920" cy="0"/>
          </a:xfrm>
          <a:prstGeom prst="line">
            <a:avLst/>
          </a:prstGeom>
          <a:ln w="3810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12480" y="29718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4201A"/>
                </a:solidFill>
                <a:latin typeface="Apple SD Gothic Neo"/>
                <a:ea typeface="Apple SD Gothic Neo"/>
              </a:rPr>
              <a:t>환원제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6118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A7264"/>
                </a:solidFill>
                <a:latin typeface="Apple SD Gothic Neo"/>
                <a:ea typeface="Apple SD Gothic Neo"/>
              </a:rPr>
              <a:t>결합을 풀어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7A7264"/>
                </a:solidFill>
                <a:latin typeface="Apple SD Gothic Neo"/>
                <a:ea typeface="Apple SD Gothic Neo"/>
              </a:rPr>
              <a:t>컬을 만드는 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4201A"/>
                </a:solidFill>
                <a:latin typeface="Apple SD Gothic Neo"/>
                <a:ea typeface="Apple SD Gothic Neo"/>
              </a:rPr>
              <a:t>남이 쓰던 약도 분해해 보면 내 것이 됩니다.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24201A"/>
                </a:solidFill>
                <a:latin typeface="Apple SD Gothic Neo"/>
                <a:ea typeface="Apple SD Gothic Neo"/>
              </a:rPr>
              <a:t>외우는 약은 남의 약, 쪼개본 약이 내 약입니다.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24A2E"/>
                </a:solidFill>
                <a:latin typeface="Apple SD Gothic Neo"/>
                <a:ea typeface="Apple SD Gothic Neo"/>
              </a:rPr>
              <a:t>② 모질 · 약제 구분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24201A"/>
                </a:solidFill>
                <a:latin typeface="Apple SD Gothic Neo"/>
                <a:ea typeface="Apple SD Gothic Neo"/>
              </a:rPr>
              <a:t>손상과 모질에 약제를 맞춥니다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2514600" cy="228600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97280" y="2834640"/>
            <a:ext cx="502920" cy="0"/>
          </a:xfrm>
          <a:prstGeom prst="line">
            <a:avLst/>
          </a:prstGeom>
          <a:ln w="3810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97280" y="292608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24201A"/>
                </a:solidFill>
                <a:latin typeface="Apple SD Gothic Neo"/>
                <a:ea typeface="Apple SD Gothic Neo"/>
              </a:rPr>
              <a:t>크림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11880"/>
            <a:ext cx="2057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7264"/>
                </a:solidFill>
                <a:latin typeface="Apple SD Gothic Neo"/>
                <a:ea typeface="Apple SD Gothic Neo"/>
              </a:rPr>
              <a:t>침투제 ↑ · 녹이는 힘 강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7264"/>
                </a:solidFill>
                <a:latin typeface="Apple SD Gothic Neo"/>
                <a:ea typeface="Apple SD Gothic Neo"/>
              </a:rPr>
              <a:t>강곱슬 · 건강모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468880"/>
            <a:ext cx="2514600" cy="228600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840480" y="2834640"/>
            <a:ext cx="502920" cy="0"/>
          </a:xfrm>
          <a:prstGeom prst="line">
            <a:avLst/>
          </a:prstGeom>
          <a:ln w="3810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40480" y="292608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24201A"/>
                </a:solidFill>
                <a:latin typeface="Apple SD Gothic Neo"/>
                <a:ea typeface="Apple SD Gothic Neo"/>
              </a:rPr>
              <a:t>에멀전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611880"/>
            <a:ext cx="2057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7264"/>
                </a:solidFill>
                <a:latin typeface="Apple SD Gothic Neo"/>
                <a:ea typeface="Apple SD Gothic Neo"/>
              </a:rPr>
              <a:t>중간 · 균형형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7264"/>
                </a:solidFill>
                <a:latin typeface="Apple SD Gothic Neo"/>
                <a:ea typeface="Apple SD Gothic Neo"/>
              </a:rPr>
              <a:t>대부분의 모발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468880"/>
            <a:ext cx="2514600" cy="228600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583680" y="2834640"/>
            <a:ext cx="502920" cy="0"/>
          </a:xfrm>
          <a:prstGeom prst="line">
            <a:avLst/>
          </a:prstGeom>
          <a:ln w="38100">
            <a:solidFill>
              <a:srgbClr val="9A7B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0" y="292608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24201A"/>
                </a:solidFill>
                <a:latin typeface="Apple SD Gothic Neo"/>
                <a:ea typeface="Apple SD Gothic Neo"/>
              </a:rPr>
              <a:t>겔 · 액체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11880"/>
            <a:ext cx="2057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7264"/>
                </a:solidFill>
                <a:latin typeface="Apple SD Gothic Neo"/>
                <a:ea typeface="Apple SD Gothic Neo"/>
              </a:rPr>
              <a:t>못 녹임 · 섬세 컨트롤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7264"/>
                </a:solidFill>
                <a:latin typeface="Apple SD Gothic Neo"/>
                <a:ea typeface="Apple SD Gothic Neo"/>
              </a:rPr>
              <a:t>손상모 · 미세 조정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468880"/>
            <a:ext cx="2514600" cy="228600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9326880" y="2834640"/>
            <a:ext cx="502920" cy="0"/>
          </a:xfrm>
          <a:prstGeom prst="line">
            <a:avLst/>
          </a:prstGeom>
          <a:ln w="38100">
            <a:solidFill>
              <a:srgbClr val="7A72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326880" y="292608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24201A"/>
                </a:solidFill>
                <a:latin typeface="Apple SD Gothic Neo"/>
                <a:ea typeface="Apple SD Gothic Neo"/>
              </a:rPr>
              <a:t>물 (수분)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611880"/>
            <a:ext cx="2057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7264"/>
                </a:solidFill>
                <a:latin typeface="Apple SD Gothic Neo"/>
                <a:ea typeface="Apple SD Gothic Neo"/>
              </a:rPr>
              <a:t>녹이지 않고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7264"/>
                </a:solidFill>
                <a:latin typeface="Apple SD Gothic Neo"/>
                <a:ea typeface="Apple SD Gothic Neo"/>
              </a:rPr>
              <a:t>수분·열을 조율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24201A"/>
                </a:solidFill>
                <a:latin typeface="Apple SD Gothic Neo"/>
                <a:ea typeface="Apple SD Gothic Neo"/>
              </a:rPr>
              <a:t>좋은 약은 없습니다. 이 모발에 맞는 약이 있을 뿐입니다.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24A2E"/>
                </a:solidFill>
                <a:latin typeface="Apple SD Gothic Neo"/>
                <a:ea typeface="Apple SD Gothic Neo"/>
              </a:rPr>
              <a:t>② 모질 · 약제 구분 — 그림으로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4201A"/>
                </a:solidFill>
                <a:latin typeface="Apple SD Gothic Neo"/>
                <a:ea typeface="Apple SD Gothic Neo"/>
              </a:rPr>
              <a:t>말이 아니라, 그림으로 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5029200" cy="3108960"/>
          </a:xfrm>
          <a:prstGeom prst="roundRect">
            <a:avLst>
              <a:gd name="adj" fmla="val 4500"/>
            </a:avLst>
          </a:prstGeom>
          <a:solidFill>
            <a:srgbClr val="F4F0E6"/>
          </a:solidFill>
          <a:ln w="17780">
            <a:solidFill>
              <a:srgbClr val="7A72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7A7264"/>
                </a:solidFill>
                <a:latin typeface="Apple SD Gothic Neo"/>
                <a:ea typeface="Apple SD Gothic Neo"/>
              </a:rPr>
              <a:t>◻︎  곱슬 모양표</a:t>
            </a:r>
          </a:p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7A7264"/>
                </a:solidFill>
                <a:latin typeface="Apple SD Gothic Neo"/>
                <a:ea typeface="Apple SD Gothic Neo"/>
              </a:rPr>
              <a:t>(기존 곱슬 특성표)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468880"/>
            <a:ext cx="5029200" cy="3108960"/>
          </a:xfrm>
          <a:prstGeom prst="roundRect">
            <a:avLst>
              <a:gd name="adj" fmla="val 4500"/>
            </a:avLst>
          </a:prstGeom>
          <a:solidFill>
            <a:srgbClr val="F4F0E6"/>
          </a:solidFill>
          <a:ln w="17780">
            <a:solidFill>
              <a:srgbClr val="7A72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365760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7A7264"/>
                </a:solidFill>
                <a:latin typeface="Apple SD Gothic Neo"/>
                <a:ea typeface="Apple SD Gothic Neo"/>
              </a:rPr>
              <a:t>◻︎  연화·볼륨 변화 →</a:t>
            </a:r>
          </a:p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7A7264"/>
                </a:solidFill>
                <a:latin typeface="Apple SD Gothic Neo"/>
                <a:ea typeface="Apple SD Gothic Neo"/>
              </a:rPr>
              <a:t>이미지가 달라지는 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24A2E"/>
                </a:solidFill>
                <a:latin typeface="Apple SD Gothic Neo"/>
                <a:ea typeface="Apple SD Gothic Neo"/>
              </a:rPr>
              <a:t>③ 커트 = 공간 — 접기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4201A"/>
                </a:solidFill>
                <a:latin typeface="Apple SD Gothic Neo"/>
                <a:ea typeface="Apple SD Gothic Neo"/>
              </a:rPr>
              <a:t>접힐 자리를 만들면, 힘이 절반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720" y="2743200"/>
            <a:ext cx="0" cy="2011680"/>
          </a:xfrm>
          <a:prstGeom prst="line">
            <a:avLst/>
          </a:prstGeom>
          <a:ln w="3048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88720" y="2926080"/>
            <a:ext cx="822960" cy="0"/>
          </a:xfrm>
          <a:prstGeom prst="line">
            <a:avLst/>
          </a:prstGeom>
          <a:ln w="2032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88720" y="3291840"/>
            <a:ext cx="822960" cy="0"/>
          </a:xfrm>
          <a:prstGeom prst="line">
            <a:avLst/>
          </a:prstGeom>
          <a:ln w="2032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88720" y="3657600"/>
            <a:ext cx="822960" cy="0"/>
          </a:xfrm>
          <a:prstGeom prst="line">
            <a:avLst/>
          </a:prstGeom>
          <a:ln w="2032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88720" y="4023360"/>
            <a:ext cx="822960" cy="0"/>
          </a:xfrm>
          <a:prstGeom prst="line">
            <a:avLst/>
          </a:prstGeom>
          <a:ln w="2032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720" y="4389120"/>
            <a:ext cx="822960" cy="0"/>
          </a:xfrm>
          <a:prstGeom prst="line">
            <a:avLst/>
          </a:prstGeom>
          <a:ln w="2032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148840" y="3566160"/>
            <a:ext cx="960120" cy="0"/>
          </a:xfrm>
          <a:prstGeom prst="line">
            <a:avLst/>
          </a:prstGeom>
          <a:ln w="25400">
            <a:solidFill>
              <a:srgbClr val="B24A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48840" y="31546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24A2E"/>
                </a:solidFill>
                <a:latin typeface="Apple SD Gothic Neo"/>
                <a:ea typeface="Apple SD Gothic Neo"/>
              </a:rPr>
              <a:t>걷어낼 자리 (점선)</a:t>
            </a:r>
          </a:p>
        </p:txBody>
      </p:sp>
      <p:sp>
        <p:nvSpPr>
          <p:cNvPr id="14" name="Freeform 13"/>
          <p:cNvSpPr/>
          <p:nvPr/>
        </p:nvSpPr>
        <p:spPr>
          <a:xfrm>
            <a:off x="3566160" y="3383280"/>
            <a:ext cx="1280160" cy="822960"/>
          </a:xfrm>
          <a:custGeom>
            <a:avLst/>
            <a:gdLst/>
            <a:ahLst/>
            <a:cxnLst/>
            <a:rect l="l" t="t" r="r" b="b"/>
            <a:pathLst>
              <a:path w="1280160" h="822960">
                <a:moveTo>
                  <a:pt x="0" y="822960"/>
                </a:moveTo>
                <a:lnTo>
                  <a:pt x="640080" y="0"/>
                </a:lnTo>
                <a:lnTo>
                  <a:pt x="1280160" y="822960"/>
                </a:lnTo>
              </a:path>
            </a:pathLst>
          </a:custGeom>
          <a:noFill/>
          <a:ln w="30480">
            <a:solidFill>
              <a:srgbClr val="242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42976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7A7264"/>
                </a:solidFill>
                <a:latin typeface="Apple SD Gothic Neo"/>
                <a:ea typeface="Apple SD Gothic Neo"/>
              </a:rPr>
              <a:t>쉽게 접힘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651760"/>
            <a:ext cx="5303520" cy="228600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88036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7A7264"/>
                </a:solidFill>
                <a:latin typeface="Apple SD Gothic Neo"/>
                <a:ea typeface="Apple SD Gothic Neo"/>
              </a:rPr>
              <a:t>커트 없이  →  열 100의 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2044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24A2E"/>
                </a:solidFill>
                <a:latin typeface="Apple SD Gothic Neo"/>
                <a:ea typeface="Apple SD Gothic Neo"/>
              </a:rPr>
              <a:t>걷어내면  →  열 50의 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20624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7A7264"/>
                </a:solidFill>
                <a:latin typeface="Apple SD Gothic Neo"/>
                <a:ea typeface="Apple SD Gothic Neo"/>
              </a:rPr>
              <a:t>같은 C컬 · 손상 절반 · 약도 순하게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24201A"/>
                </a:solidFill>
                <a:latin typeface="Apple SD Gothic Neo"/>
                <a:ea typeface="Apple SD Gothic Neo"/>
              </a:rPr>
              <a:t>커트는 펌의 보조가 아니라 절반입니다.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24A2E"/>
                </a:solidFill>
                <a:latin typeface="Apple SD Gothic Neo"/>
                <a:ea typeface="Apple SD Gothic Neo"/>
              </a:rPr>
              <a:t>③ 커트 = 공간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24201A"/>
                </a:solidFill>
                <a:latin typeface="Apple SD Gothic Neo"/>
                <a:ea typeface="Apple SD Gothic Neo"/>
              </a:rPr>
              <a:t>모든 가위질엔 작용과 반작용이 있습니다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5029200" cy="210312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9A7B33"/>
                </a:solidFill>
                <a:latin typeface="Apple SD Gothic Neo"/>
                <a:ea typeface="Apple SD Gothic Neo"/>
              </a:rPr>
              <a:t>작용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7A7264"/>
                </a:solidFill>
                <a:latin typeface="Apple SD Gothic Neo"/>
                <a:ea typeface="Apple SD Gothic Neo"/>
              </a:rPr>
              <a:t>걷어내면</a:t>
            </a:r>
          </a:p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7A7264"/>
                </a:solidFill>
                <a:latin typeface="Apple SD Gothic Neo"/>
                <a:ea typeface="Apple SD Gothic Neo"/>
              </a:rPr>
              <a:t>컬이 잘 접힙니다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468880"/>
            <a:ext cx="5029200" cy="210312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6974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B24A2E"/>
                </a:solidFill>
                <a:latin typeface="Apple SD Gothic Neo"/>
                <a:ea typeface="Apple SD Gothic Neo"/>
              </a:rPr>
              <a:t>반작용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33756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7A7264"/>
                </a:solidFill>
                <a:latin typeface="Apple SD Gothic Neo"/>
                <a:ea typeface="Apple SD Gothic Neo"/>
              </a:rPr>
              <a:t>너무 걷어내면</a:t>
            </a:r>
          </a:p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7A7264"/>
                </a:solidFill>
                <a:latin typeface="Apple SD Gothic Neo"/>
                <a:ea typeface="Apple SD Gothic Neo"/>
              </a:rPr>
              <a:t>부스스해집니다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24201A"/>
                </a:solidFill>
                <a:latin typeface="Apple SD Gothic Neo"/>
                <a:ea typeface="Apple SD Gothic Neo"/>
              </a:rPr>
              <a:t>매 커트마다 묻습니다. 무엇을 얻고, 무엇을 버릴 것인가.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24A2E"/>
                </a:solidFill>
                <a:latin typeface="Apple SD Gothic Neo"/>
                <a:ea typeface="Apple SD Gothic Neo"/>
              </a:rPr>
              <a:t>③ 커트 = 공간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24201A"/>
                </a:solidFill>
                <a:latin typeface="Apple SD Gothic Neo"/>
                <a:ea typeface="Apple SD Gothic Neo"/>
              </a:rPr>
              <a:t>'살아난' 게 아니라, '이제야 보이는' 겁니다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514600"/>
            <a:ext cx="4206240" cy="2377440"/>
          </a:xfrm>
          <a:prstGeom prst="roundRect">
            <a:avLst>
              <a:gd name="adj" fmla="val 4500"/>
            </a:avLst>
          </a:prstGeom>
          <a:solidFill>
            <a:srgbClr val="201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lock Arc 6"/>
          <p:cNvSpPr/>
          <p:nvPr/>
        </p:nvSpPr>
        <p:spPr>
          <a:xfrm>
            <a:off x="1600200" y="3200400"/>
            <a:ext cx="914400" cy="1097280"/>
          </a:xfrm>
          <a:prstGeom prst="blockArc">
            <a:avLst/>
          </a:prstGeom>
          <a:solidFill>
            <a:srgbClr val="2A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ock Arc 7"/>
          <p:cNvSpPr/>
          <p:nvPr/>
        </p:nvSpPr>
        <p:spPr>
          <a:xfrm>
            <a:off x="2834640" y="3200400"/>
            <a:ext cx="914400" cy="1097280"/>
          </a:xfrm>
          <a:prstGeom prst="blockArc">
            <a:avLst/>
          </a:prstGeom>
          <a:solidFill>
            <a:srgbClr val="2A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lock Arc 8"/>
          <p:cNvSpPr/>
          <p:nvPr/>
        </p:nvSpPr>
        <p:spPr>
          <a:xfrm>
            <a:off x="4069080" y="3200400"/>
            <a:ext cx="914400" cy="1097280"/>
          </a:xfrm>
          <a:prstGeom prst="blockArc">
            <a:avLst/>
          </a:prstGeom>
          <a:solidFill>
            <a:srgbClr val="2A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98348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7A7264"/>
                </a:solidFill>
                <a:latin typeface="Apple SD Gothic Neo"/>
                <a:ea typeface="Apple SD Gothic Neo"/>
              </a:rPr>
              <a:t>공간이 없으면 — 컬이 안 보입니다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514600"/>
            <a:ext cx="4206240" cy="237744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lock Arc 11"/>
          <p:cNvSpPr/>
          <p:nvPr/>
        </p:nvSpPr>
        <p:spPr>
          <a:xfrm>
            <a:off x="7360920" y="3200400"/>
            <a:ext cx="914400" cy="1097280"/>
          </a:xfrm>
          <a:prstGeom prst="blockArc">
            <a:avLst/>
          </a:prstGeom>
          <a:solidFill>
            <a:srgbClr val="24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lock Arc 12"/>
          <p:cNvSpPr/>
          <p:nvPr/>
        </p:nvSpPr>
        <p:spPr>
          <a:xfrm>
            <a:off x="8595360" y="3200400"/>
            <a:ext cx="914400" cy="1097280"/>
          </a:xfrm>
          <a:prstGeom prst="blockArc">
            <a:avLst/>
          </a:prstGeom>
          <a:solidFill>
            <a:srgbClr val="24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lock Arc 13"/>
          <p:cNvSpPr/>
          <p:nvPr/>
        </p:nvSpPr>
        <p:spPr>
          <a:xfrm>
            <a:off x="9829800" y="3200400"/>
            <a:ext cx="914400" cy="1097280"/>
          </a:xfrm>
          <a:prstGeom prst="blockArc">
            <a:avLst/>
          </a:prstGeom>
          <a:solidFill>
            <a:srgbClr val="24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98348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4201A"/>
                </a:solidFill>
                <a:latin typeface="Apple SD Gothic Neo"/>
                <a:ea typeface="Apple SD Gothic Neo"/>
              </a:rPr>
              <a:t>공간이 생기면 — 같은 컬이 보입니다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2356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24201A"/>
                </a:solidFill>
                <a:latin typeface="Apple SD Gothic Neo"/>
                <a:ea typeface="Apple SD Gothic Neo"/>
              </a:rPr>
              <a:t>펌이 금방 풀린 게 아니라 공간이 없었던 겁니다. 그건 디자이너의 몫입니다.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24A2E"/>
                </a:solidFill>
                <a:latin typeface="Apple SD Gothic Neo"/>
                <a:ea typeface="Apple SD Gothic Neo"/>
              </a:rPr>
              <a:t>④ Q &amp; 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00" b="1">
                <a:solidFill>
                  <a:srgbClr val="24201A"/>
                </a:solidFill>
                <a:latin typeface="Apple SD Gothic Neo"/>
                <a:ea typeface="Apple SD Gothic Neo"/>
              </a:rPr>
              <a:t>궁금한 것부터,</a:t>
            </a:r>
          </a:p>
          <a:p>
            <a:pPr algn="l">
              <a:lnSpc>
                <a:spcPct val="120000"/>
              </a:lnSpc>
            </a:pPr>
            <a:r>
              <a:rPr sz="5200" b="1">
                <a:solidFill>
                  <a:srgbClr val="24201A"/>
                </a:solidFill>
                <a:latin typeface="Apple SD Gothic Neo"/>
                <a:ea typeface="Apple SD Gothic Neo"/>
              </a:rPr>
              <a:t>같이 풀어봅시다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4297680"/>
            <a:ext cx="4617720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5262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7A7264"/>
                </a:solidFill>
                <a:latin typeface="Apple SD Gothic Neo"/>
                <a:ea typeface="Apple SD Gothic Neo"/>
              </a:rPr>
              <a:t>워드월에 올라온 질문을 화면에 띄우고, 비슷한 것끼리 묶어 함께 답합니다.</a:t>
            </a:r>
          </a:p>
        </p:txBody>
      </p:sp>
      <p:sp>
        <p:nvSpPr>
          <p:cNvPr id="8" name="Oval 7"/>
          <p:cNvSpPr/>
          <p:nvPr/>
        </p:nvSpPr>
        <p:spPr>
          <a:xfrm>
            <a:off x="10065715" y="2011680"/>
            <a:ext cx="351129" cy="351129"/>
          </a:xfrm>
          <a:prstGeom prst="ellipse">
            <a:avLst/>
          </a:prstGeom>
          <a:noFill/>
          <a:ln w="30480">
            <a:solidFill>
              <a:srgbClr val="242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0241280" y="2362809"/>
            <a:ext cx="0" cy="680314"/>
          </a:xfrm>
          <a:prstGeom prst="line">
            <a:avLst/>
          </a:prstGeom>
          <a:ln w="3048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890150" y="2538374"/>
            <a:ext cx="351130" cy="285293"/>
          </a:xfrm>
          <a:prstGeom prst="line">
            <a:avLst/>
          </a:prstGeom>
          <a:ln w="3048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241280" y="2538374"/>
            <a:ext cx="351129" cy="285293"/>
          </a:xfrm>
          <a:prstGeom prst="line">
            <a:avLst/>
          </a:prstGeom>
          <a:ln w="3048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955987" y="3043123"/>
            <a:ext cx="285293" cy="482803"/>
          </a:xfrm>
          <a:prstGeom prst="line">
            <a:avLst/>
          </a:prstGeom>
          <a:ln w="3048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241280" y="3043123"/>
            <a:ext cx="285292" cy="482803"/>
          </a:xfrm>
          <a:prstGeom prst="line">
            <a:avLst/>
          </a:prstGeom>
          <a:ln w="3048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24A2E"/>
                </a:solidFill>
                <a:latin typeface="Apple SD Gothic Neo"/>
                <a:ea typeface="Apple SD Gothic Neo"/>
              </a:rPr>
              <a:t>⑤ 실험 — 모다발 테스트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24201A"/>
                </a:solidFill>
                <a:latin typeface="Apple SD Gothic Neo"/>
                <a:ea typeface="Apple SD Gothic Neo"/>
              </a:rPr>
              <a:t>제품을 바꿔, 눈으로 확인합니다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2514600" cy="219456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4228" y="2944368"/>
            <a:ext cx="512064" cy="512064"/>
          </a:xfrm>
          <a:prstGeom prst="ellipse">
            <a:avLst/>
          </a:prstGeom>
          <a:noFill/>
          <a:ln w="30480">
            <a:solidFill>
              <a:srgbClr val="B24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4201A"/>
                </a:solidFill>
                <a:latin typeface="Apple SD Gothic Neo"/>
                <a:ea typeface="Apple SD Gothic Neo"/>
              </a:rPr>
              <a:t>PB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7A7264"/>
                </a:solidFill>
                <a:latin typeface="Apple SD Gothic Neo"/>
                <a:ea typeface="Apple SD Gothic Neo"/>
              </a:rPr>
              <a:t>모다발 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468880"/>
            <a:ext cx="2514600" cy="219456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7428" y="2944368"/>
            <a:ext cx="512064" cy="512064"/>
          </a:xfrm>
          <a:prstGeom prst="ellipse">
            <a:avLst/>
          </a:prstGeom>
          <a:noFill/>
          <a:ln w="30480">
            <a:solidFill>
              <a:srgbClr val="242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65760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4201A"/>
                </a:solidFill>
                <a:latin typeface="Apple SD Gothic Neo"/>
                <a:ea typeface="Apple SD Gothic Neo"/>
              </a:rPr>
              <a:t>이찌마루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16052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7A7264"/>
                </a:solidFill>
                <a:latin typeface="Apple SD Gothic Neo"/>
                <a:ea typeface="Apple SD Gothic Neo"/>
              </a:rPr>
              <a:t>모다발 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468880"/>
            <a:ext cx="2514600" cy="219456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0628" y="2944368"/>
            <a:ext cx="512064" cy="512064"/>
          </a:xfrm>
          <a:prstGeom prst="ellipse">
            <a:avLst/>
          </a:prstGeom>
          <a:noFill/>
          <a:ln w="30480">
            <a:solidFill>
              <a:srgbClr val="9A7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5760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4201A"/>
                </a:solidFill>
                <a:latin typeface="Apple SD Gothic Neo"/>
                <a:ea typeface="Apple SD Gothic Neo"/>
              </a:rPr>
              <a:t>아모스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16052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7A7264"/>
                </a:solidFill>
                <a:latin typeface="Apple SD Gothic Neo"/>
                <a:ea typeface="Apple SD Gothic Neo"/>
              </a:rPr>
              <a:t>모다발 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468880"/>
            <a:ext cx="2514600" cy="219456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3828" y="2944368"/>
            <a:ext cx="512064" cy="512064"/>
          </a:xfrm>
          <a:prstGeom prst="ellipse">
            <a:avLst/>
          </a:prstGeom>
          <a:noFill/>
          <a:ln w="30480">
            <a:solidFill>
              <a:srgbClr val="7A72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365760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4201A"/>
                </a:solidFill>
                <a:latin typeface="Apple SD Gothic Neo"/>
                <a:ea typeface="Apple SD Gothic Neo"/>
              </a:rPr>
              <a:t>시세이도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416052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7A7264"/>
                </a:solidFill>
                <a:latin typeface="Apple SD Gothic Neo"/>
                <a:ea typeface="Apple SD Gothic Neo"/>
              </a:rPr>
              <a:t>모다발 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7492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4201A"/>
                </a:solidFill>
                <a:latin typeface="Apple SD Gothic Neo"/>
                <a:ea typeface="Apple SD Gothic Neo"/>
              </a:rPr>
              <a:t>같은 모다발을 나눠 제품만 바꿉니다. 조건은 하나만 — 그래야 차이가 제품의 것이 됩니다.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24A2E"/>
                </a:solidFill>
                <a:latin typeface="Apple SD Gothic Neo"/>
                <a:ea typeface="Apple SD Gothic Neo"/>
              </a:rPr>
              <a:t>⑤ 실험 — 기록법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987552"/>
            <a:ext cx="89611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4201A"/>
                </a:solidFill>
                <a:latin typeface="Apple SD Gothic Neo"/>
                <a:ea typeface="Apple SD Gothic Neo"/>
              </a:rPr>
              <a:t>한 모다발 = 한 데이터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2286000" cy="173736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8346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24A2E"/>
                </a:solidFill>
                <a:latin typeface="Apple SD Gothic Neo"/>
                <a:ea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461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4201A"/>
                </a:solidFill>
                <a:latin typeface="Apple SD Gothic Neo"/>
                <a:ea typeface="Apple SD Gothic Neo"/>
              </a:rPr>
              <a:t>진단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7A7264"/>
                </a:solidFill>
                <a:latin typeface="Apple SD Gothic Neo"/>
                <a:ea typeface="Apple SD Gothic Neo"/>
              </a:rPr>
              <a:t>모질 · 손상 · 곱슬 비율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2461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7A7264"/>
                </a:solidFill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651760"/>
            <a:ext cx="2286000" cy="173736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8346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24A2E"/>
                </a:solidFill>
                <a:latin typeface="Apple SD Gothic Neo"/>
                <a:ea typeface="Apple SD Gothic Ne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461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4201A"/>
                </a:solidFill>
                <a:latin typeface="Apple SD Gothic Neo"/>
                <a:ea typeface="Apple SD Gothic Neo"/>
              </a:rPr>
              <a:t>선택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7947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7A7264"/>
                </a:solidFill>
                <a:latin typeface="Apple SD Gothic Neo"/>
                <a:ea typeface="Apple SD Gothic Neo"/>
              </a:rPr>
              <a:t>제품 · 온도 · 시간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2461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7A7264"/>
                </a:solidFill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651760"/>
            <a:ext cx="2286000" cy="173736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8346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24A2E"/>
                </a:solidFill>
                <a:latin typeface="Apple SD Gothic Neo"/>
                <a:ea typeface="Apple SD Gothic Ne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2461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4201A"/>
                </a:solidFill>
                <a:latin typeface="Apple SD Gothic Neo"/>
                <a:ea typeface="Apple SD Gothic Neo"/>
              </a:rPr>
              <a:t>결과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7947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7A7264"/>
                </a:solidFill>
                <a:latin typeface="Apple SD Gothic Neo"/>
                <a:ea typeface="Apple SD Gothic Neo"/>
              </a:rPr>
              <a:t>비교 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2461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7A7264"/>
                </a:solidFill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651760"/>
            <a:ext cx="2286000" cy="1737360"/>
          </a:xfrm>
          <a:prstGeom prst="roundRect">
            <a:avLst>
              <a:gd name="adj" fmla="val 4500"/>
            </a:avLst>
          </a:prstGeom>
          <a:solidFill>
            <a:srgbClr val="FBF8F1"/>
          </a:solidFill>
          <a:ln w="15875">
            <a:solidFill>
              <a:srgbClr val="D8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8346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24A2E"/>
                </a:solidFill>
                <a:latin typeface="Apple SD Gothic Neo"/>
                <a:ea typeface="Apple SD Gothic Neo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2461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4201A"/>
                </a:solidFill>
                <a:latin typeface="Apple SD Gothic Neo"/>
                <a:ea typeface="Apple SD Gothic Neo"/>
              </a:rPr>
              <a:t>다음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7947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7A7264"/>
                </a:solidFill>
                <a:latin typeface="Apple SD Gothic Neo"/>
                <a:ea typeface="Apple SD Gothic Neo"/>
              </a:rPr>
              <a:t>바꿀 것 한 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9204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4201A"/>
                </a:solidFill>
                <a:latin typeface="Apple SD Gothic Neo"/>
                <a:ea typeface="Apple SD Gothic Neo"/>
              </a:rPr>
              <a:t>같은 모다발을 반 갈라 조건 하나만 바꿔 비교하세요.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24201A"/>
                </a:solidFill>
                <a:latin typeface="Apple SD Gothic Neo"/>
                <a:ea typeface="Apple SD Gothic Neo"/>
              </a:rPr>
              <a:t>감이 아니라 데이터로 늡니다.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24A2E"/>
                </a:solidFill>
                <a:latin typeface="Apple SD Gothic Neo"/>
                <a:ea typeface="Apple SD Gothic Neo"/>
              </a:rPr>
              <a:t>닫으며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1234440"/>
            <a:ext cx="713232" cy="0"/>
          </a:xfrm>
          <a:prstGeom prst="line">
            <a:avLst/>
          </a:prstGeom>
          <a:ln w="2794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92024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24201A"/>
                </a:solidFill>
                <a:latin typeface="Apple SD Gothic Neo"/>
                <a:ea typeface="Apple SD Gothic Neo"/>
              </a:rPr>
              <a:t>열펌은, 쪼갤수록 쉬워집니다.</a:t>
            </a:r>
          </a:p>
        </p:txBody>
      </p:sp>
      <p:sp>
        <p:nvSpPr>
          <p:cNvPr id="6" name="Freeform 5"/>
          <p:cNvSpPr/>
          <p:nvPr/>
        </p:nvSpPr>
        <p:spPr>
          <a:xfrm>
            <a:off x="9427464" y="1661007"/>
            <a:ext cx="530351" cy="609905"/>
          </a:xfrm>
          <a:custGeom>
            <a:avLst/>
            <a:gdLst/>
            <a:ahLst/>
            <a:cxnLst/>
            <a:rect l="l" t="t" r="r" b="b"/>
            <a:pathLst>
              <a:path w="530351" h="609905">
                <a:moveTo>
                  <a:pt x="265176" y="0"/>
                </a:moveTo>
                <a:lnTo>
                  <a:pt x="0" y="609905"/>
                </a:lnTo>
                <a:lnTo>
                  <a:pt x="530351" y="609905"/>
                </a:lnTo>
                <a:close/>
              </a:path>
            </a:pathLst>
          </a:custGeom>
          <a:solidFill>
            <a:srgbClr val="FBF8F1"/>
          </a:solidFill>
          <a:ln w="33020">
            <a:solidFill>
              <a:srgbClr val="242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870594" y="1965960"/>
            <a:ext cx="609905" cy="0"/>
          </a:xfrm>
          <a:prstGeom prst="line">
            <a:avLst/>
          </a:prstGeom>
          <a:ln w="3048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91041" y="1490472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4201A"/>
                </a:solidFill>
                <a:latin typeface="Apple SD Gothic Neo"/>
                <a:ea typeface="Apple SD Gothic Neo"/>
              </a:rPr>
              <a:t>열펌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9904780" y="1064361"/>
            <a:ext cx="1007669" cy="901599"/>
          </a:xfrm>
          <a:prstGeom prst="line">
            <a:avLst/>
          </a:prstGeom>
          <a:ln w="33020">
            <a:solidFill>
              <a:srgbClr val="B24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85601" y="844905"/>
            <a:ext cx="12801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24A2E"/>
                </a:solidFill>
                <a:latin typeface="Apple SD Gothic Neo"/>
                <a:ea typeface="Apple SD Gothic Neo"/>
              </a:rPr>
              <a:t>열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9904780" y="1665427"/>
            <a:ext cx="1007669" cy="300533"/>
          </a:xfrm>
          <a:prstGeom prst="line">
            <a:avLst/>
          </a:prstGeom>
          <a:ln w="33020">
            <a:solidFill>
              <a:srgbClr val="9A7B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985601" y="1445971"/>
            <a:ext cx="12801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9A7B33"/>
                </a:solidFill>
                <a:latin typeface="Apple SD Gothic Neo"/>
                <a:ea typeface="Apple SD Gothic Neo"/>
              </a:rPr>
              <a:t>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904780" y="1965960"/>
            <a:ext cx="1007669" cy="300532"/>
          </a:xfrm>
          <a:prstGeom prst="line">
            <a:avLst/>
          </a:prstGeom>
          <a:ln w="33020">
            <a:solidFill>
              <a:srgbClr val="242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985601" y="2047036"/>
            <a:ext cx="12801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4201A"/>
                </a:solidFill>
                <a:latin typeface="Apple SD Gothic Neo"/>
                <a:ea typeface="Apple SD Gothic Neo"/>
              </a:rPr>
              <a:t>커트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904780" y="1965960"/>
            <a:ext cx="1007669" cy="901598"/>
          </a:xfrm>
          <a:prstGeom prst="line">
            <a:avLst/>
          </a:prstGeom>
          <a:ln w="33020">
            <a:solidFill>
              <a:srgbClr val="7A72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985601" y="2648102"/>
            <a:ext cx="12801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A7264"/>
                </a:solidFill>
                <a:latin typeface="Apple SD Gothic Neo"/>
                <a:ea typeface="Apple SD Gothic Neo"/>
              </a:rPr>
              <a:t>공간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114800"/>
            <a:ext cx="10515600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4389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A7264"/>
                </a:solidFill>
                <a:latin typeface="Apple SD Gothic Neo"/>
                <a:ea typeface="Apple SD Gothic Neo"/>
              </a:rPr>
              <a:t>숙제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>
                <a:solidFill>
                  <a:srgbClr val="24201A"/>
                </a:solidFill>
                <a:latin typeface="Apple SD Gothic Neo"/>
                <a:ea typeface="Apple SD Gothic Neo"/>
              </a:rPr>
              <a:t>① 배운 점 · 느낀 점 정리</a:t>
            </a:r>
          </a:p>
          <a:p>
            <a:pPr algn="l">
              <a:lnSpc>
                <a:spcPct val="135000"/>
              </a:lnSpc>
            </a:pPr>
            <a:r>
              <a:rPr sz="2100" b="0">
                <a:solidFill>
                  <a:srgbClr val="24201A"/>
                </a:solidFill>
                <a:latin typeface="Apple SD Gothic Neo"/>
                <a:ea typeface="Apple SD Gothic Neo"/>
              </a:rPr>
              <a:t>② 모다발 비교 사진 PDF — 조건은 하나만 바꿔서 (같은 모다발, 제품만)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6199632"/>
            <a:ext cx="10545775" cy="0"/>
          </a:xfrm>
          <a:prstGeom prst="line">
            <a:avLst/>
          </a:prstGeom>
          <a:ln w="12700">
            <a:solidFill>
              <a:srgbClr val="D8D0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7A7264"/>
                </a:solidFill>
                <a:latin typeface="Apple SD Gothic Neo"/>
                <a:ea typeface="Apple SD Gothic Neo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