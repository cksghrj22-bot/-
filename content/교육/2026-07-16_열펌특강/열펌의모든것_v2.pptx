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오프닝. 워드월 직후. 화면엔 아이 하나가 갈라진 덩어리를 올려다본다. '오늘은 이걸 쪼갤 겁니다'로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공부는 분해에서 시작. 하나를 깊게 파는 날이 아니라 브레인스토밍처럼 넓게 몇 가지를 집어보는 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펌이란 무엇인가, 열은 왜 필요한가부터. 롤러볼의 간접열과 판이 직접 닿는 디지털·세팅의 열은 같은 열인가?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40~55도는 수분·시간이 일하는 저온. 100도 넘으면 수분 날리며 형태 굳힘. 140도부터 단백질 변형. 열펌=열로 사람을 편하게. 열은 적이 아니라 도구.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성희 부원장 해석. 열펌제=연화제+환원제. 팩(점증)이 과연화를 막는 브레이크라 꾸덕. 환원제가 결합 풀어 부드럽게, 과하지 않게 컬. 남의 약도 분해하면 내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크림=침투제 많고 녹이는 약, 강곱슬·건강모 유리. 겔·액체=못 녹이는 대신 섬세 컨트롤, 손상모 유리. 좋은 약은 없다, 맞는 약이 있을 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이론 텍스트가 아니라 그림으로. 옛날부터 쓰던 곱슬 모양표 + 연화·볼륨 줄며 이미지 달라지는 표. 핀터레스트 스타일.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 분해했으면 다시 돌아온다. 미용은 왜 하는가. 예뻐지려고, 손질 편하려고. 이 둘을 절대 잊으면 안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펌 기술은 6개월이면 는다. 진짜는 ①손상 읽는 눈 — 전 과정을 이론으로 쥐어야 실수를 찾는다, 바늘구멍에 넣듯 피드백. ②무드 보는 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부스스한 게 나쁜가? 아니다. 부스스함은 부스스함일 뿐. 어울리는 사람(여원)이 있고 직선이 어울리는 사람(윤하)이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상담 스토리. '깔끔한 인상인데 매직 왜 싫으세요?' '볼륨이 죽어서요.' '30도만 펴 드릴게요.' 매직↔펌 사이 무수한 점을 보는 디자이너가 펌을 파는 디자이너. 이목구비·옷·모질·눈매 보고 제안.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C컬. 접힐 자리를 커트로 얇게 걷어내면 열 100이 아니라 50으로 같은 컬. 손상 절반, 약도 순하게. 커트는 펌의 보조가 아니라 절반.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걷어내면 잘 접힌다(작용). 너무 걷어내면 부스스해진다(반작용). 매 커트마다 무엇을 취하고 무엇을 버릴지.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'펌이 살아났어요'가 아니라 '이제야 보여요'. 검은 바탕 위 검은 줄은 안 보인다. 바탕이 밝아질수록 보인다. 공간이 생겨야 컬이 보인다. 강하게 말았는데 금방 풀려 보이면 공간이 없는 것 — 디자이너 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클로징. 워드월로 돌아가 '지금 다시 쓰면 열펌이란?' 한 번 더. Q&amp;A, 모다발 테스트. 숙제: 배운 점 + 모다발 비교 사진 PDF(조건 하나만 바꿔).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24A2E"/>
                </a:solidFill>
                <a:latin typeface="Apple SD Gothic Neo"/>
                <a:ea typeface="Apple SD Gothic Neo"/>
              </a:rPr>
              <a:t>AT NOWN 교육 · 특강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86968" y="1024128"/>
            <a:ext cx="103327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86000"/>
            <a:ext cx="749807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24201A"/>
                </a:solidFill>
                <a:latin typeface="Apple SD Gothic Neo"/>
                <a:ea typeface="Apple SD Gothic Neo"/>
              </a:rPr>
              <a:t>열펌의 모든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7A7264"/>
                </a:solidFill>
                <a:latin typeface="Apple SD Gothic Neo"/>
                <a:ea typeface="Apple SD Gothic Neo"/>
              </a:rPr>
              <a:t>— 분해하다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7A7264"/>
                </a:solidFill>
                <a:latin typeface="Apple SD Gothic Neo"/>
                <a:ea typeface="Apple SD Gothic Neo"/>
              </a:rPr>
              <a:t>차노 · 2026. 7. 16 · 앳나운플레이스 3F</a:t>
            </a:r>
          </a:p>
        </p:txBody>
      </p:sp>
      <p:sp>
        <p:nvSpPr>
          <p:cNvPr id="8" name="Oval 7"/>
          <p:cNvSpPr/>
          <p:nvPr/>
        </p:nvSpPr>
        <p:spPr>
          <a:xfrm>
            <a:off x="8650224" y="3840480"/>
            <a:ext cx="438912" cy="438912"/>
          </a:xfrm>
          <a:prstGeom prst="ellipse">
            <a:avLst/>
          </a:prstGeom>
          <a:noFill/>
          <a:ln w="30480">
            <a:solidFill>
              <a:srgbClr val="242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69680" y="4279392"/>
            <a:ext cx="0" cy="850392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403336" y="4498848"/>
            <a:ext cx="466344" cy="329184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869680" y="4087368"/>
            <a:ext cx="411479" cy="411480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513063" y="5129784"/>
            <a:ext cx="356617" cy="603504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5129784"/>
            <a:ext cx="356616" cy="603504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372600" y="1600200"/>
            <a:ext cx="1737360" cy="1737360"/>
          </a:xfrm>
          <a:prstGeom prst="ellipse">
            <a:avLst/>
          </a:prstGeom>
          <a:solidFill>
            <a:srgbClr val="FBF8F1"/>
          </a:solidFill>
          <a:ln w="30480">
            <a:solidFill>
              <a:srgbClr val="242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058400" y="1627632"/>
            <a:ext cx="320040" cy="1618488"/>
          </a:xfrm>
          <a:custGeom>
            <a:avLst/>
            <a:gdLst/>
            <a:ahLst/>
            <a:cxnLst/>
            <a:rect l="l" t="t" r="r" b="b"/>
            <a:pathLst>
              <a:path w="320040" h="1618488">
                <a:moveTo>
                  <a:pt x="182880" y="0"/>
                </a:moveTo>
                <a:lnTo>
                  <a:pt x="45720" y="384048"/>
                </a:lnTo>
                <a:lnTo>
                  <a:pt x="320040" y="795528"/>
                </a:lnTo>
                <a:lnTo>
                  <a:pt x="0" y="1207008"/>
                </a:lnTo>
                <a:lnTo>
                  <a:pt x="274320" y="1618488"/>
                </a:lnTo>
              </a:path>
            </a:pathLst>
          </a:custGeom>
          <a:noFill/>
          <a:ln w="38100">
            <a:solidFill>
              <a:srgbClr val="B24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1371600"/>
            <a:ext cx="1097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B24A2E"/>
                </a:solidFill>
                <a:latin typeface="Apple SD Gothic Neo"/>
                <a:ea typeface="Apple SD Gothic Neo"/>
              </a:rPr>
              <a:t>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오늘의 지도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201A"/>
                </a:solidFill>
                <a:latin typeface="Apple SD Gothic Neo"/>
                <a:ea typeface="Apple SD Gothic Neo"/>
              </a:rPr>
              <a:t>공부한다는 건, 분해한다는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514600" cy="228600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4A2E"/>
                </a:solidFill>
                <a:latin typeface="Apple SD Gothic Neo"/>
                <a:ea typeface="Apple SD Gothic Neo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15568" y="3200400"/>
            <a:ext cx="621792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33375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201A"/>
                </a:solidFill>
                <a:latin typeface="Apple SD Gothic Neo"/>
                <a:ea typeface="Apple SD Gothic Neo"/>
              </a:rPr>
              <a:t>분해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열과 약을 쪼갠다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468880"/>
            <a:ext cx="2514600" cy="228600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6974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4A2E"/>
                </a:solidFill>
                <a:latin typeface="Apple SD Gothic Neo"/>
                <a:ea typeface="Apple SD Gothic Neo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58768" y="3200400"/>
            <a:ext cx="621792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40480" y="33375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201A"/>
                </a:solidFill>
                <a:latin typeface="Apple SD Gothic Neo"/>
                <a:ea typeface="Apple SD Gothic Neo"/>
              </a:rPr>
              <a:t>회귀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77639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그래서, 펌은 왜 하는가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468880"/>
            <a:ext cx="2514600" cy="228600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6974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4A2E"/>
                </a:solidFill>
                <a:latin typeface="Apple SD Gothic Neo"/>
                <a:ea typeface="Apple SD Gothic Neo"/>
              </a:rPr>
              <a:t>03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01968" y="3200400"/>
            <a:ext cx="621792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0" y="33375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201A"/>
                </a:solidFill>
                <a:latin typeface="Apple SD Gothic Neo"/>
                <a:ea typeface="Apple SD Gothic Neo"/>
              </a:rPr>
              <a:t>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77639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펌을 돕는 절반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468880"/>
            <a:ext cx="2514600" cy="228600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6974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4A2E"/>
                </a:solidFill>
                <a:latin typeface="Apple SD Gothic Neo"/>
                <a:ea typeface="Apple SD Gothic Neo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45168" y="3200400"/>
            <a:ext cx="621792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326880" y="33375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4201A"/>
                </a:solidFill>
                <a:latin typeface="Apple SD Gothic Neo"/>
                <a:ea typeface="Apple SD Gothic Neo"/>
              </a:rPr>
              <a:t>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977639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Q&amp;A · 모다발 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24201A"/>
                </a:solidFill>
                <a:latin typeface="Apple SD Gothic Neo"/>
                <a:ea typeface="Apple SD Gothic Neo"/>
              </a:rPr>
              <a:t>쪼개봐야 내 것이 됩니다.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① 분해 — 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4201A"/>
                </a:solidFill>
                <a:latin typeface="Apple SD Gothic Neo"/>
                <a:ea typeface="Apple SD Gothic Neo"/>
              </a:rPr>
              <a:t>펌이란 무엇인가?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24201A"/>
                </a:solidFill>
                <a:latin typeface="Apple SD Gothic Neo"/>
                <a:ea typeface="Apple SD Gothic Neo"/>
              </a:rPr>
              <a:t>열은 왜 필요한가?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297680"/>
            <a:ext cx="4800600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4526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7A7264"/>
                </a:solidFill>
                <a:latin typeface="Apple SD Gothic Neo"/>
                <a:ea typeface="Apple SD Gothic Neo"/>
              </a:rPr>
              <a:t>롤러볼의 열과, 판이 직접 닿는 열은 같은 열일까요?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① 분해 — 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201A"/>
                </a:solidFill>
                <a:latin typeface="Apple SD Gothic Neo"/>
                <a:ea typeface="Apple SD Gothic Neo"/>
              </a:rPr>
              <a:t>열마다 하는 일이 다릅니다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108960"/>
            <a:ext cx="10332720" cy="0"/>
          </a:xfrm>
          <a:prstGeom prst="line">
            <a:avLst/>
          </a:prstGeom>
          <a:ln w="2540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1054" y="2999232"/>
            <a:ext cx="0" cy="219456"/>
          </a:xfrm>
          <a:prstGeom prst="line">
            <a:avLst/>
          </a:prstGeom>
          <a:ln w="38100">
            <a:solidFill>
              <a:srgbClr val="9A7B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6734" y="22402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9A7B33"/>
                </a:solidFill>
                <a:latin typeface="Apple SD Gothic Neo"/>
                <a:ea typeface="Apple SD Gothic Neo"/>
              </a:rPr>
              <a:t>40–55°C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894" y="3383279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수분과 시간이 일하는 구간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건강한 물결·저온 세팅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47488" y="2999232"/>
            <a:ext cx="0" cy="219456"/>
          </a:xfrm>
          <a:prstGeom prst="line">
            <a:avLst/>
          </a:prstGeom>
          <a:ln w="3810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73168" y="22402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4201A"/>
                </a:solidFill>
                <a:latin typeface="Apple SD Gothic Neo"/>
                <a:ea typeface="Apple SD Gothic Neo"/>
              </a:rPr>
              <a:t>100°C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3383279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수분을 날리며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형태를 굳히는 구간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60612" y="2999232"/>
            <a:ext cx="0" cy="219456"/>
          </a:xfrm>
          <a:prstGeom prst="line">
            <a:avLst/>
          </a:prstGeom>
          <a:ln w="3810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86292" y="22402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B24A2E"/>
                </a:solidFill>
                <a:latin typeface="Apple SD Gothic Neo"/>
                <a:ea typeface="Apple SD Gothic Neo"/>
              </a:rPr>
              <a:t>140°C ~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452" y="3383279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단백질 변형이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시작되는 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24201A"/>
                </a:solidFill>
                <a:latin typeface="Apple SD Gothic Neo"/>
                <a:ea typeface="Apple SD Gothic Neo"/>
              </a:rPr>
              <a:t>열펌은 열로 사람을 편하게 만드는 시술입니다.</a:t>
            </a:r>
          </a:p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24201A"/>
                </a:solidFill>
                <a:latin typeface="Apple SD Gothic Neo"/>
                <a:ea typeface="Apple SD Gothic Neo"/>
              </a:rPr>
              <a:t>열은 적이 아니라 도구예요.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① 분해 — 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201A"/>
                </a:solidFill>
                <a:latin typeface="Apple SD Gothic Neo"/>
                <a:ea typeface="Apple SD Gothic Neo"/>
              </a:rPr>
              <a:t>약도 쪼개집니다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200400" cy="19659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880360"/>
            <a:ext cx="502920" cy="0"/>
          </a:xfrm>
          <a:prstGeom prst="line">
            <a:avLst/>
          </a:prstGeom>
          <a:ln w="38100">
            <a:solidFill>
              <a:srgbClr val="9A7B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29718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4201A"/>
                </a:solidFill>
                <a:latin typeface="Apple SD Gothic Neo"/>
                <a:ea typeface="Apple SD Gothic Neo"/>
              </a:rPr>
              <a:t>연화제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머리를 부드럽게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여는 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108960"/>
            <a:ext cx="457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7A7264"/>
                </a:solidFill>
                <a:latin typeface="Apple SD Gothic Neo"/>
                <a:ea typeface="Apple SD Gothic Neo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514600"/>
            <a:ext cx="3200400" cy="19659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80" y="2880360"/>
            <a:ext cx="502920" cy="0"/>
          </a:xfrm>
          <a:prstGeom prst="line">
            <a:avLst/>
          </a:prstGeom>
          <a:ln w="3810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54880" y="29718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4201A"/>
                </a:solidFill>
                <a:latin typeface="Apple SD Gothic Neo"/>
                <a:ea typeface="Apple SD Gothic Neo"/>
              </a:rPr>
              <a:t>팩 · 점증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118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과연화를 막는 브레이크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약이 꾸덕한 진짜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08960"/>
            <a:ext cx="457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7A7264"/>
                </a:solidFill>
                <a:latin typeface="Apple SD Gothic Neo"/>
                <a:ea typeface="Apple SD Gothic Neo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514600"/>
            <a:ext cx="3200400" cy="19659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412480" y="2880360"/>
            <a:ext cx="502920" cy="0"/>
          </a:xfrm>
          <a:prstGeom prst="line">
            <a:avLst/>
          </a:prstGeom>
          <a:ln w="3810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0" y="29718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4201A"/>
                </a:solidFill>
                <a:latin typeface="Apple SD Gothic Neo"/>
                <a:ea typeface="Apple SD Gothic Neo"/>
              </a:rPr>
              <a:t>환원제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118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결합을 풀어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컬을 만드는 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24201A"/>
                </a:solidFill>
                <a:latin typeface="Apple SD Gothic Neo"/>
                <a:ea typeface="Apple SD Gothic Neo"/>
              </a:rPr>
              <a:t>남의 해석도 분해해 보면 내 것이 됩니다.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24201A"/>
                </a:solidFill>
                <a:latin typeface="Apple SD Gothic Neo"/>
                <a:ea typeface="Apple SD Gothic Neo"/>
              </a:rPr>
              <a:t>외우는 약은 남의 약, 쪼개본 약이 내 약입니다.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① 분해 — 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201A"/>
                </a:solidFill>
                <a:latin typeface="Apple SD Gothic Neo"/>
                <a:ea typeface="Apple SD Gothic Neo"/>
              </a:rPr>
              <a:t>크림이냐 겔이냐가 아니라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029200" cy="237744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4201A"/>
                </a:solidFill>
                <a:latin typeface="Apple SD Gothic Neo"/>
                <a:ea typeface="Apple SD Gothic Neo"/>
              </a:rPr>
              <a:t>크림 타입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3246120"/>
            <a:ext cx="1920240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3383280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7A7264"/>
                </a:solidFill>
                <a:latin typeface="Apple SD Gothic Neo"/>
                <a:ea typeface="Apple SD Gothic Neo"/>
              </a:rPr>
              <a:t>침투제가 풍부, 녹이는 힘이 강함</a:t>
            </a:r>
          </a:p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7A7264"/>
                </a:solidFill>
                <a:latin typeface="Apple SD Gothic Neo"/>
                <a:ea typeface="Apple SD Gothic Neo"/>
              </a:rPr>
              <a:t>→ 강한 곱슬 · 건강모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68880"/>
            <a:ext cx="5029200" cy="237744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4201A"/>
                </a:solidFill>
                <a:latin typeface="Apple SD Gothic Neo"/>
                <a:ea typeface="Apple SD Gothic Neo"/>
              </a:rPr>
              <a:t>겔 · 액체 타입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3246120"/>
            <a:ext cx="1920240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75120" y="3383280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7A7264"/>
                </a:solidFill>
                <a:latin typeface="Apple SD Gothic Neo"/>
                <a:ea typeface="Apple SD Gothic Neo"/>
              </a:rPr>
              <a:t>못 녹이는 대신 섬세하게 컨트롤</a:t>
            </a:r>
          </a:p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7A7264"/>
                </a:solidFill>
                <a:latin typeface="Apple SD Gothic Neo"/>
                <a:ea typeface="Apple SD Gothic Neo"/>
              </a:rPr>
              <a:t>→ 손상모 · 미세 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 i="0">
                <a:solidFill>
                  <a:srgbClr val="24201A"/>
                </a:solidFill>
                <a:latin typeface="Apple SD Gothic Neo"/>
                <a:ea typeface="Apple SD Gothic Neo"/>
              </a:rPr>
              <a:t>좋은 약은 없습니다. 이 모발에 맞는 약이 있을 뿐입니다.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① 분해 — 곱슬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201A"/>
                </a:solidFill>
                <a:latin typeface="Apple SD Gothic Neo"/>
                <a:ea typeface="Apple SD Gothic Neo"/>
              </a:rPr>
              <a:t>말이 아니라, 그림으로 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029200" cy="3108960"/>
          </a:xfrm>
          <a:prstGeom prst="roundRect">
            <a:avLst>
              <a:gd name="adj" fmla="val 4500"/>
            </a:avLst>
          </a:prstGeom>
          <a:solidFill>
            <a:srgbClr val="F4F0E6"/>
          </a:solidFill>
          <a:ln w="17780">
            <a:solidFill>
              <a:srgbClr val="7A72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7A7264"/>
                </a:solidFill>
                <a:latin typeface="Apple SD Gothic Neo"/>
                <a:ea typeface="Apple SD Gothic Neo"/>
              </a:rPr>
              <a:t>◻︎  곱슬 모양표</a:t>
            </a:r>
          </a:p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7A7264"/>
                </a:solidFill>
                <a:latin typeface="Apple SD Gothic Neo"/>
                <a:ea typeface="Apple SD Gothic Neo"/>
              </a:rPr>
              <a:t>(기존 곱슬 특성표)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5029200" cy="3108960"/>
          </a:xfrm>
          <a:prstGeom prst="roundRect">
            <a:avLst>
              <a:gd name="adj" fmla="val 4500"/>
            </a:avLst>
          </a:prstGeom>
          <a:solidFill>
            <a:srgbClr val="F4F0E6"/>
          </a:solidFill>
          <a:ln w="17780">
            <a:solidFill>
              <a:srgbClr val="7A72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65760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7A7264"/>
                </a:solidFill>
                <a:latin typeface="Apple SD Gothic Neo"/>
                <a:ea typeface="Apple SD Gothic Neo"/>
              </a:rPr>
              <a:t>◻︎  연화·볼륨 변화 →</a:t>
            </a:r>
          </a:p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7A7264"/>
                </a:solidFill>
                <a:latin typeface="Apple SD Gothic Neo"/>
                <a:ea typeface="Apple SD Gothic Neo"/>
              </a:rPr>
              <a:t>이미지가 달라지는 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② 회귀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24201A"/>
                </a:solidFill>
                <a:latin typeface="Apple SD Gothic Neo"/>
                <a:ea typeface="Apple SD Gothic Neo"/>
              </a:rPr>
              <a:t>그래서, 미용은 왜 할까요?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029200" cy="164592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4201A"/>
                </a:solidFill>
                <a:latin typeface="Apple SD Gothic Neo"/>
                <a:ea typeface="Apple SD Gothic Neo"/>
              </a:rPr>
              <a:t>예뻐지려고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5029200" cy="164592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24612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4201A"/>
                </a:solidFill>
                <a:latin typeface="Apple SD Gothic Neo"/>
                <a:ea typeface="Apple SD Gothic Neo"/>
              </a:rPr>
              <a:t>손질이 편해지려고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 i="0">
                <a:solidFill>
                  <a:srgbClr val="7A7264"/>
                </a:solidFill>
                <a:latin typeface="Apple SD Gothic Neo"/>
                <a:ea typeface="Apple SD Gothic Neo"/>
              </a:rPr>
              <a:t>이 두 가지를 절대 잊지 않습니다.</a:t>
            </a:r>
          </a:p>
          <a:p>
            <a:pPr algn="l">
              <a:lnSpc>
                <a:spcPct val="120000"/>
              </a:lnSpc>
            </a:pPr>
            <a:r>
              <a:rPr sz="2300" b="0" i="0">
                <a:solidFill>
                  <a:srgbClr val="7A7264"/>
                </a:solidFill>
                <a:latin typeface="Apple SD Gothic Neo"/>
                <a:ea typeface="Apple SD Gothic Neo"/>
              </a:rPr>
              <a:t>펌은 이 둘을 벗어난 적이 없습니다.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② 회귀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24201A"/>
                </a:solidFill>
                <a:latin typeface="Apple SD Gothic Neo"/>
                <a:ea typeface="Apple SD Gothic Neo"/>
              </a:rPr>
              <a:t>펌 기술은 6개월이면 늡니다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7A7264"/>
                </a:solidFill>
                <a:latin typeface="Apple SD Gothic Neo"/>
                <a:ea typeface="Apple SD Gothic Neo"/>
              </a:rPr>
              <a:t>진짜 실력은 두 가지에서 갈립니다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5029200" cy="278892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B24A2E"/>
                </a:solidFill>
                <a:latin typeface="Apple SD Gothic Neo"/>
                <a:ea typeface="Apple SD Gothic Neo"/>
              </a:rPr>
              <a:t>① 손상을 읽는 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이 모발이 어디까지 버티고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컬이 나올지 아는 것.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전 과정을 이론으로 쥐고 있어야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실수한 지점을 찾아냅니다.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— 바늘구멍에 넣듯 나를 피드백.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06040"/>
            <a:ext cx="5029200" cy="278892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B24A2E"/>
                </a:solidFill>
                <a:latin typeface="Apple SD Gothic Neo"/>
                <a:ea typeface="Apple SD Gothic Neo"/>
              </a:rPr>
              <a:t>② 무드를 보는 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7472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컬이 생기면 어떤 무드가 되는가.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매직이면, 윤기 나면,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부스스하면 어떤 무드가 되는가.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기술이 아니라 사람을 봅니다.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② 회귀 — 무드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201A"/>
                </a:solidFill>
                <a:latin typeface="Apple SD Gothic Neo"/>
                <a:ea typeface="Apple SD Gothic Neo"/>
              </a:rPr>
              <a:t>부스스함은 부스스함일 뿐입니다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029200" cy="2743200"/>
          </a:xfrm>
          <a:prstGeom prst="roundRect">
            <a:avLst>
              <a:gd name="adj" fmla="val 4500"/>
            </a:avLst>
          </a:prstGeom>
          <a:solidFill>
            <a:srgbClr val="F4F0E6"/>
          </a:solidFill>
          <a:ln w="17780">
            <a:solidFill>
              <a:srgbClr val="7A72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7A7264"/>
                </a:solidFill>
                <a:latin typeface="Apple SD Gothic Neo"/>
                <a:ea typeface="Apple SD Gothic Neo"/>
              </a:rPr>
              <a:t>◻︎  여원 사진</a:t>
            </a:r>
          </a:p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7A7264"/>
                </a:solidFill>
                <a:latin typeface="Apple SD Gothic Neo"/>
                <a:ea typeface="Apple SD Gothic Neo"/>
              </a:rPr>
              <a:t>부스스함이 무드가 되는 사람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5029200" cy="2743200"/>
          </a:xfrm>
          <a:prstGeom prst="roundRect">
            <a:avLst>
              <a:gd name="adj" fmla="val 4500"/>
            </a:avLst>
          </a:prstGeom>
          <a:solidFill>
            <a:srgbClr val="F4F0E6"/>
          </a:solidFill>
          <a:ln w="17780">
            <a:solidFill>
              <a:srgbClr val="7A72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56616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7A7264"/>
                </a:solidFill>
                <a:latin typeface="Apple SD Gothic Neo"/>
                <a:ea typeface="Apple SD Gothic Neo"/>
              </a:rPr>
              <a:t>◻︎  윤하 사진</a:t>
            </a:r>
          </a:p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7A7264"/>
                </a:solidFill>
                <a:latin typeface="Apple SD Gothic Neo"/>
                <a:ea typeface="Apple SD Gothic Neo"/>
              </a:rPr>
              <a:t>직선이 어울리는 사람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4201A"/>
                </a:solidFill>
                <a:latin typeface="Apple SD Gothic Neo"/>
                <a:ea typeface="Apple SD Gothic Neo"/>
              </a:rPr>
              <a:t>나쁜 건 부스스함이 아니라, 안 맞는 것입니다.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② 회귀 — 제안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24201A"/>
                </a:solidFill>
                <a:latin typeface="Apple SD Gothic Neo"/>
                <a:ea typeface="Apple SD Gothic Neo"/>
              </a:rPr>
              <a:t>매직과 펌은 끝과 끝이 아닙니다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3200400"/>
            <a:ext cx="9052560" cy="0"/>
          </a:xfrm>
          <a:prstGeom prst="line">
            <a:avLst/>
          </a:prstGeom>
          <a:ln w="3175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29718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201A"/>
                </a:solidFill>
                <a:latin typeface="Apple SD Gothic Neo"/>
                <a:ea typeface="Apple SD Gothic Neo"/>
              </a:rPr>
              <a:t>매직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297180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201A"/>
                </a:solidFill>
                <a:latin typeface="Apple SD Gothic Neo"/>
                <a:ea typeface="Apple SD Gothic Neo"/>
              </a:rPr>
              <a:t>펌</a:t>
            </a:r>
          </a:p>
        </p:txBody>
      </p:sp>
      <p:sp>
        <p:nvSpPr>
          <p:cNvPr id="9" name="Oval 8"/>
          <p:cNvSpPr/>
          <p:nvPr/>
        </p:nvSpPr>
        <p:spPr>
          <a:xfrm>
            <a:off x="1773936" y="3145536"/>
            <a:ext cx="109728" cy="109728"/>
          </a:xfrm>
          <a:prstGeom prst="ellipse">
            <a:avLst/>
          </a:prstGeom>
          <a:solidFill>
            <a:srgbClr val="7A7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34640" y="3145536"/>
            <a:ext cx="109728" cy="109728"/>
          </a:xfrm>
          <a:prstGeom prst="ellipse">
            <a:avLst/>
          </a:prstGeom>
          <a:solidFill>
            <a:srgbClr val="7A7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95344" y="3145536"/>
            <a:ext cx="109728" cy="109728"/>
          </a:xfrm>
          <a:prstGeom prst="ellipse">
            <a:avLst/>
          </a:prstGeom>
          <a:solidFill>
            <a:srgbClr val="7A7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56048" y="3145536"/>
            <a:ext cx="109728" cy="109728"/>
          </a:xfrm>
          <a:prstGeom prst="ellipse">
            <a:avLst/>
          </a:prstGeom>
          <a:solidFill>
            <a:srgbClr val="7A7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16752" y="3145536"/>
            <a:ext cx="109728" cy="109728"/>
          </a:xfrm>
          <a:prstGeom prst="ellipse">
            <a:avLst/>
          </a:prstGeom>
          <a:solidFill>
            <a:srgbClr val="7A7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77456" y="3145536"/>
            <a:ext cx="109728" cy="109728"/>
          </a:xfrm>
          <a:prstGeom prst="ellipse">
            <a:avLst/>
          </a:prstGeom>
          <a:solidFill>
            <a:srgbClr val="7A7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59" y="3145536"/>
            <a:ext cx="109728" cy="109728"/>
          </a:xfrm>
          <a:prstGeom prst="ellipse">
            <a:avLst/>
          </a:prstGeom>
          <a:solidFill>
            <a:srgbClr val="7A7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98863" y="3145536"/>
            <a:ext cx="109728" cy="109728"/>
          </a:xfrm>
          <a:prstGeom prst="ellipse">
            <a:avLst/>
          </a:prstGeom>
          <a:solidFill>
            <a:srgbClr val="7A7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59567" y="3145536"/>
            <a:ext cx="109728" cy="109728"/>
          </a:xfrm>
          <a:prstGeom prst="ellipse">
            <a:avLst/>
          </a:prstGeom>
          <a:solidFill>
            <a:srgbClr val="7A7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73752" y="3063240"/>
            <a:ext cx="274320" cy="274320"/>
          </a:xfrm>
          <a:prstGeom prst="ellipse">
            <a:avLst/>
          </a:prstGeom>
          <a:solidFill>
            <a:srgbClr val="B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3520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B24A2E"/>
                </a:solidFill>
                <a:latin typeface="Apple SD Gothic Neo"/>
                <a:ea typeface="Apple SD Gothic Neo"/>
              </a:rPr>
              <a:t>“30도만 펴 드릴게요”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24201A"/>
                </a:solidFill>
                <a:latin typeface="Apple SD Gothic Neo"/>
                <a:ea typeface="Apple SD Gothic Neo"/>
              </a:rPr>
              <a:t>그 사이의 무수한 점을 보는 사람이 펌을 파는 디자이너입니다.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24201A"/>
                </a:solidFill>
                <a:latin typeface="Apple SD Gothic Neo"/>
                <a:ea typeface="Apple SD Gothic Neo"/>
              </a:rPr>
              <a:t>이목구비 · 옷 · 모질 · 눈매까지 보고, 왜 이 점인지까지 제안합니다.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③ 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201A"/>
                </a:solidFill>
                <a:latin typeface="Apple SD Gothic Neo"/>
                <a:ea typeface="Apple SD Gothic Neo"/>
              </a:rPr>
              <a:t>커트가 펌을 돕습니다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029200" cy="246888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7A7264"/>
                </a:solidFill>
                <a:latin typeface="Apple SD Gothic Neo"/>
                <a:ea typeface="Apple SD Gothic Neo"/>
              </a:rPr>
              <a:t>커트 없이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24201A"/>
                </a:solidFill>
                <a:latin typeface="Apple SD Gothic Neo"/>
                <a:ea typeface="Apple SD Gothic Neo"/>
              </a:rPr>
              <a:t>열 100의 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같은 C컬 · 손상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14600"/>
            <a:ext cx="5029200" cy="246888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743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B24A2E"/>
                </a:solidFill>
                <a:latin typeface="Apple SD Gothic Neo"/>
                <a:ea typeface="Apple SD Gothic Neo"/>
              </a:rPr>
              <a:t>접힐 자리를 걷어내면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4612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4A2E"/>
                </a:solidFill>
                <a:latin typeface="Apple SD Gothic Neo"/>
                <a:ea typeface="Apple SD Gothic Neo"/>
              </a:rPr>
              <a:t>열 50의 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2976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7A7264"/>
                </a:solidFill>
                <a:latin typeface="Apple SD Gothic Neo"/>
                <a:ea typeface="Apple SD Gothic Neo"/>
              </a:rPr>
              <a:t>같은 C컬 · 손상 절반 · 약도 순하게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 i="0">
                <a:solidFill>
                  <a:srgbClr val="24201A"/>
                </a:solidFill>
                <a:latin typeface="Apple SD Gothic Neo"/>
                <a:ea typeface="Apple SD Gothic Neo"/>
              </a:rPr>
              <a:t>커트는 펌의 보조가 아니라 절반입니다.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③ 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4201A"/>
                </a:solidFill>
                <a:latin typeface="Apple SD Gothic Neo"/>
                <a:ea typeface="Apple SD Gothic Neo"/>
              </a:rPr>
              <a:t>모든 가위질엔 작용과 반작용이 있습니다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029200" cy="210312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9A7B33"/>
                </a:solidFill>
                <a:latin typeface="Apple SD Gothic Neo"/>
                <a:ea typeface="Apple SD Gothic Neo"/>
              </a:rPr>
              <a:t>작용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 i="0">
                <a:solidFill>
                  <a:srgbClr val="7A7264"/>
                </a:solidFill>
                <a:latin typeface="Apple SD Gothic Neo"/>
                <a:ea typeface="Apple SD Gothic Neo"/>
              </a:rPr>
              <a:t>걷어내면</a:t>
            </a:r>
          </a:p>
          <a:p>
            <a:pPr algn="ctr">
              <a:lnSpc>
                <a:spcPct val="115000"/>
              </a:lnSpc>
            </a:pPr>
            <a:r>
              <a:rPr sz="1900" b="0" i="0">
                <a:solidFill>
                  <a:srgbClr val="7A7264"/>
                </a:solidFill>
                <a:latin typeface="Apple SD Gothic Neo"/>
                <a:ea typeface="Apple SD Gothic Neo"/>
              </a:rPr>
              <a:t>컬이 잘 접힙니다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029200" cy="210312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6974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B24A2E"/>
                </a:solidFill>
                <a:latin typeface="Apple SD Gothic Neo"/>
                <a:ea typeface="Apple SD Gothic Neo"/>
              </a:rPr>
              <a:t>반작용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375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 i="0">
                <a:solidFill>
                  <a:srgbClr val="7A7264"/>
                </a:solidFill>
                <a:latin typeface="Apple SD Gothic Neo"/>
                <a:ea typeface="Apple SD Gothic Neo"/>
              </a:rPr>
              <a:t>너무 걷어내면</a:t>
            </a:r>
          </a:p>
          <a:p>
            <a:pPr algn="ctr">
              <a:lnSpc>
                <a:spcPct val="115000"/>
              </a:lnSpc>
            </a:pPr>
            <a:r>
              <a:rPr sz="1900" b="0" i="0">
                <a:solidFill>
                  <a:srgbClr val="7A7264"/>
                </a:solidFill>
                <a:latin typeface="Apple SD Gothic Neo"/>
                <a:ea typeface="Apple SD Gothic Neo"/>
              </a:rPr>
              <a:t>부스스해집니다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 i="0">
                <a:solidFill>
                  <a:srgbClr val="24201A"/>
                </a:solidFill>
                <a:latin typeface="Apple SD Gothic Neo"/>
                <a:ea typeface="Apple SD Gothic Neo"/>
              </a:rPr>
              <a:t>매 커트마다 묻습니다. 무엇을 얻고, 무엇을 버릴 것인가.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24A2E"/>
                </a:solidFill>
                <a:latin typeface="Apple SD Gothic Neo"/>
                <a:ea typeface="Apple SD Gothic Neo"/>
              </a:rPr>
              <a:t>③ 커트 — 공간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4201A"/>
                </a:solidFill>
                <a:latin typeface="Apple SD Gothic Neo"/>
                <a:ea typeface="Apple SD Gothic Neo"/>
              </a:rPr>
              <a:t>살아난 게 아니라, 이제야 보이는 겁니다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514600"/>
            <a:ext cx="4206240" cy="2377440"/>
          </a:xfrm>
          <a:prstGeom prst="roundRect">
            <a:avLst>
              <a:gd name="adj" fmla="val 4500"/>
            </a:avLst>
          </a:prstGeom>
          <a:solidFill>
            <a:srgbClr val="201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1600200" y="3200400"/>
            <a:ext cx="914400" cy="1097280"/>
          </a:xfrm>
          <a:prstGeom prst="blockArc">
            <a:avLst/>
          </a:prstGeom>
          <a:solidFill>
            <a:srgbClr val="2A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2834640" y="3200400"/>
            <a:ext cx="914400" cy="1097280"/>
          </a:xfrm>
          <a:prstGeom prst="blockArc">
            <a:avLst/>
          </a:prstGeom>
          <a:solidFill>
            <a:srgbClr val="2A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ock Arc 8"/>
          <p:cNvSpPr/>
          <p:nvPr/>
        </p:nvSpPr>
        <p:spPr>
          <a:xfrm>
            <a:off x="4069080" y="3200400"/>
            <a:ext cx="914400" cy="1097280"/>
          </a:xfrm>
          <a:prstGeom prst="blockArc">
            <a:avLst/>
          </a:prstGeom>
          <a:solidFill>
            <a:srgbClr val="2A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834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A7264"/>
                </a:solidFill>
                <a:latin typeface="Apple SD Gothic Neo"/>
                <a:ea typeface="Apple SD Gothic Neo"/>
              </a:rPr>
              <a:t>공간이 없으면 — 컬이 안 보입니다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514600"/>
            <a:ext cx="4206240" cy="237744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7360920" y="3200400"/>
            <a:ext cx="914400" cy="1097280"/>
          </a:xfrm>
          <a:prstGeom prst="blockArc">
            <a:avLst/>
          </a:prstGeom>
          <a:solidFill>
            <a:srgbClr val="24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ock Arc 12"/>
          <p:cNvSpPr/>
          <p:nvPr/>
        </p:nvSpPr>
        <p:spPr>
          <a:xfrm>
            <a:off x="8595360" y="3200400"/>
            <a:ext cx="914400" cy="1097280"/>
          </a:xfrm>
          <a:prstGeom prst="blockArc">
            <a:avLst/>
          </a:prstGeom>
          <a:solidFill>
            <a:srgbClr val="24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9829800" y="3200400"/>
            <a:ext cx="914400" cy="1097280"/>
          </a:xfrm>
          <a:prstGeom prst="blockArc">
            <a:avLst/>
          </a:prstGeom>
          <a:solidFill>
            <a:srgbClr val="24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9834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4201A"/>
                </a:solidFill>
                <a:latin typeface="Apple SD Gothic Neo"/>
                <a:ea typeface="Apple SD Gothic Neo"/>
              </a:rPr>
              <a:t>공간이 생기면 — 같은 컬이 보입니다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24201A"/>
                </a:solidFill>
                <a:latin typeface="Apple SD Gothic Neo"/>
                <a:ea typeface="Apple SD Gothic Neo"/>
              </a:rPr>
              <a:t>펌이 금방 풀린 게 아니라 공간이 없었던 겁니다. 그건 디자이너의 몫입니다.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A7264"/>
                </a:solidFill>
                <a:latin typeface="Apple SD Gothic Neo"/>
                <a:ea typeface="Apple SD Gothic Ne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24A2E"/>
                </a:solidFill>
                <a:latin typeface="Apple SD Gothic Neo"/>
                <a:ea typeface="Apple SD Gothic Neo"/>
              </a:rPr>
              <a:t>닫으며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234440"/>
            <a:ext cx="71323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24201A"/>
                </a:solidFill>
                <a:latin typeface="Apple SD Gothic Neo"/>
                <a:ea typeface="Apple SD Gothic Neo"/>
              </a:rPr>
              <a:t>열펌은 분해할수록 쉬워지고,</a:t>
            </a:r>
          </a:p>
          <a:p>
            <a:pPr algn="l">
              <a:lnSpc>
                <a:spcPct val="125000"/>
              </a:lnSpc>
            </a:pPr>
            <a:r>
              <a:rPr sz="4200" b="1" i="0">
                <a:solidFill>
                  <a:srgbClr val="24201A"/>
                </a:solidFill>
                <a:latin typeface="Apple SD Gothic Neo"/>
                <a:ea typeface="Apple SD Gothic Neo"/>
              </a:rPr>
              <a:t>사람을 읽을수록 완성됩니다.</a:t>
            </a:r>
          </a:p>
        </p:txBody>
      </p:sp>
      <p:sp>
        <p:nvSpPr>
          <p:cNvPr id="6" name="Oval 5"/>
          <p:cNvSpPr/>
          <p:nvPr/>
        </p:nvSpPr>
        <p:spPr>
          <a:xfrm>
            <a:off x="10171785" y="1737360"/>
            <a:ext cx="321868" cy="321868"/>
          </a:xfrm>
          <a:prstGeom prst="ellipse">
            <a:avLst/>
          </a:prstGeom>
          <a:noFill/>
          <a:ln w="30480">
            <a:solidFill>
              <a:srgbClr val="242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332720" y="2059228"/>
            <a:ext cx="0" cy="623621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010851" y="2220163"/>
            <a:ext cx="321869" cy="261518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32720" y="2220163"/>
            <a:ext cx="321868" cy="261518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071201" y="2682849"/>
            <a:ext cx="261519" cy="442570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332720" y="2682849"/>
            <a:ext cx="261518" cy="442570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" y="4297680"/>
            <a:ext cx="10515600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A7264"/>
                </a:solidFill>
                <a:latin typeface="Apple SD Gothic Neo"/>
                <a:ea typeface="Apple SD Gothic Neo"/>
              </a:rPr>
              <a:t>다음 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24201A"/>
                </a:solidFill>
                <a:latin typeface="Apple SD Gothic Neo"/>
                <a:ea typeface="Apple SD Gothic Neo"/>
              </a:rPr>
              <a:t>Q&amp;A  →  모다발 테스트 (이번 과정의 확인)</a:t>
            </a:r>
          </a:p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24201A"/>
                </a:solidFill>
                <a:latin typeface="Apple SD Gothic Neo"/>
                <a:ea typeface="Apple SD Gothic Neo"/>
              </a:rPr>
              <a:t>숙제 : 배운 점 정리 · 모다발 비교 사진 PDF (조건은 하나만 바꿔서)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