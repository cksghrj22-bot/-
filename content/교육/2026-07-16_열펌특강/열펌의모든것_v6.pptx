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오프닝. 갈라짐 도식만. 하나가 여럿으로. 강사가 '오늘 이걸 쪼갭니다'로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제목. 강사가 '오늘 이걸 쪼갭니다'로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하나를 깊게 파는 날이 아니라, 다섯을 쪼개보는 날. 강사가 훑는다.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'열펌'이라는 말부터 쪼갠다. 열|펌. 강사가 열은 왜/펌이란 무엇/롤러볼vs판을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열마다 하는 일이 다르다. 40-55 / 100+ / 140. 강사가 각 구간 특성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약도 쪼갠다. 연화제·팩·환원제. 강사가 성희 약 분해 해석을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손상·모질에 약제를 맞춘다. 크림·에멀전·겔·물. 강사가 각 제형 장점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말이 아니라 그림으로. 곱슬 모양표 + 연화·볼륨 변화표. 핀터레스트 이미지로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접힐 자리를 만들면 힘이 절반. 강사가 열 100 vs 50, 손상 절반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가위질엔 작용과 반작용. 강사가 걷어내면 접힌다 / 너무 걷어내면 부스스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'펌이 살아났다'가 아니라 '이제야 보인다'. 공간이 있어야 컬이 보인다. 강사가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워드월 질문을 함께 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실험. 모다발로 제품 비교. PB·이찌마루·아모스S·시세이도M. 조건은 하나만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모다발 = 한 데이터. 진단→선택→결과→다음. 강사가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마무리. 쪼갤수록 쉬워진다. 개편안처럼 홀로 선 아이로 닫는다. 워드월로 한 번 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246827" y="2584094"/>
            <a:ext cx="1484985" cy="1689811"/>
          </a:xfrm>
          <a:custGeom>
            <a:avLst/>
            <a:gdLst/>
            <a:ahLst/>
            <a:cxnLst/>
            <a:rect l="l" t="t" r="r" b="b"/>
            <a:pathLst>
              <a:path w="1484985" h="1689811">
                <a:moveTo>
                  <a:pt x="742493" y="0"/>
                </a:moveTo>
                <a:lnTo>
                  <a:pt x="0" y="1689811"/>
                </a:lnTo>
                <a:lnTo>
                  <a:pt x="1484985" y="1689811"/>
                </a:lnTo>
                <a:close/>
              </a:path>
            </a:pathLst>
          </a:custGeom>
          <a:noFill/>
          <a:ln w="3048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557016" y="3429000"/>
            <a:ext cx="1792224" cy="0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88920" y="3044952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C1C1C"/>
                </a:solidFill>
                <a:latin typeface="Noto Sans CJK KR"/>
                <a:ea typeface="Noto Sans CJK KR"/>
              </a:rPr>
              <a:t>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629400" y="1252728"/>
            <a:ext cx="2304288" cy="2176272"/>
          </a:xfrm>
          <a:prstGeom prst="line">
            <a:avLst/>
          </a:prstGeom>
          <a:ln w="27940">
            <a:solidFill>
              <a:srgbClr val="B8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629400" y="2703576"/>
            <a:ext cx="2304288" cy="725424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29400" y="3429000"/>
            <a:ext cx="2304288" cy="725423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29400" y="3429000"/>
            <a:ext cx="2304288" cy="2176272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C1C1C"/>
                </a:solidFill>
                <a:latin typeface="Noto Sans CJK KR"/>
                <a:ea typeface="Noto Sans CJK KR"/>
              </a:rPr>
              <a:t>열펌의 모든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808080"/>
                </a:solidFill>
                <a:latin typeface="Noto Sans CJK KR"/>
                <a:ea typeface="Noto Sans CJK KR"/>
              </a:rPr>
              <a:t>분해하다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Noto Sans CJK KR"/>
                <a:ea typeface="Noto Sans CJK KR"/>
              </a:rPr>
              <a:t>차노 · 2026. 7. 16 · 앳나운플레이스 3F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오늘, 무엇을 쪼갤까?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965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830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C1C1C"/>
                </a:solidFill>
                <a:latin typeface="Noto Sans CJK KR"/>
                <a:ea typeface="Noto Sans CJK KR"/>
              </a:rPr>
              <a:t>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221991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약과 '열펌'이라는 말부터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23744"/>
            <a:ext cx="457200" cy="45720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14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C1C1C"/>
                </a:solidFill>
                <a:latin typeface="Noto Sans CJK KR"/>
                <a:ea typeface="Noto Sans CJK KR"/>
              </a:rPr>
              <a:t>모질 · 약제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95351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크림 · 에멀전 · 겔 · 물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55263"/>
            <a:ext cx="457200" cy="45720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8269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46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C1C1C"/>
                </a:solidFill>
                <a:latin typeface="Noto Sans CJK KR"/>
                <a:ea typeface="Noto Sans CJK KR"/>
              </a:rPr>
              <a:t>커트 = 공간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85031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펌이 살아났다, 그리고 접기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86784"/>
            <a:ext cx="457200" cy="45720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1421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9776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C1C1C"/>
                </a:solidFill>
                <a:latin typeface="Noto Sans CJK KR"/>
                <a:ea typeface="Noto Sans CJK KR"/>
              </a:rPr>
              <a:t>Q &amp;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1655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궁금한 것부터 함께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718304"/>
            <a:ext cx="457200" cy="45720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4573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7091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C1C1C"/>
                </a:solidFill>
                <a:latin typeface="Noto Sans CJK KR"/>
                <a:ea typeface="Noto Sans CJK KR"/>
              </a:rPr>
              <a:t>실험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14807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모다발로 제품을 비교한다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623560"/>
            <a:ext cx="10543032" cy="603504"/>
          </a:xfrm>
          <a:prstGeom prst="roundRect">
            <a:avLst>
              <a:gd name="adj" fmla="val 12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5430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C1C1C"/>
                </a:solidFill>
                <a:latin typeface="Noto Sans CJK KR"/>
                <a:ea typeface="Noto Sans CJK KR"/>
              </a:rPr>
              <a:t>쪼개봐야, 내 것이 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'열펌'이라는 말부터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246888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468880"/>
            <a:ext cx="0" cy="256032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0" y="246888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열마다, 하는 일이 다르다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3840480"/>
            <a:ext cx="9601200" cy="0"/>
          </a:xfrm>
          <a:prstGeom prst="line">
            <a:avLst/>
          </a:prstGeom>
          <a:ln w="2286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513331" y="3785616"/>
            <a:ext cx="109728" cy="1097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5" y="31821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C1C1C"/>
                </a:solidFill>
                <a:latin typeface="Noto Sans CJK KR"/>
                <a:ea typeface="Noto Sans CJK KR"/>
              </a:rPr>
              <a:t>40–55°C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3785616"/>
            <a:ext cx="109728" cy="1097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31821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C1C1C"/>
                </a:solidFill>
                <a:latin typeface="Noto Sans CJK KR"/>
                <a:ea typeface="Noto Sans CJK KR"/>
              </a:rPr>
              <a:t>100°C +</a:t>
            </a:r>
          </a:p>
        </p:txBody>
      </p:sp>
      <p:sp>
        <p:nvSpPr>
          <p:cNvPr id="10" name="Oval 9"/>
          <p:cNvSpPr/>
          <p:nvPr/>
        </p:nvSpPr>
        <p:spPr>
          <a:xfrm>
            <a:off x="8906256" y="3785616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1821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C1C1C"/>
                </a:solidFill>
                <a:latin typeface="Noto Sans CJK KR"/>
                <a:ea typeface="Noto Sans CJK KR"/>
              </a:rPr>
              <a:t>140°C 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약도, 쪼개진다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27432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16382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41985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연화제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7432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16382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41985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7432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16382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41985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환원제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모질에, 약제를 맞춘다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68680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02536" y="316382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1985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54296" y="316382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341985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에멀전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06056" y="316382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41985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59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57815" y="316382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59" y="341985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말이 아니라, 그림으로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68680" y="228600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08080"/>
                </a:solidFill>
                <a:latin typeface="Noto Sans CJK KR"/>
                <a:ea typeface="Noto Sans CJK KR"/>
              </a:rPr>
              <a:t>곱슬 모양표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7490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08080"/>
                </a:solidFill>
                <a:latin typeface="Noto Sans CJK KR"/>
                <a:ea typeface="Noto Sans CJK KR"/>
              </a:rPr>
              <a:t>연화 · 볼륨 변화표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6424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>
                <a:solidFill>
                  <a:srgbClr val="1C1C1C"/>
                </a:solidFill>
                <a:latin typeface="Noto Sans CJK KR"/>
                <a:ea typeface="Noto Sans CJK KR"/>
              </a:rPr>
              <a:t>접으면, 힘이 절반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작용과, 반작용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80160" y="30632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1C1C1C"/>
                </a:solidFill>
                <a:latin typeface="Noto Sans CJK KR"/>
                <a:ea typeface="Noto Sans CJK KR"/>
              </a:rPr>
              <a:t>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182112"/>
            <a:ext cx="1188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808080"/>
                </a:solidFill>
                <a:latin typeface="Noto Sans CJK KR"/>
                <a:ea typeface="Noto Sans CJK KR"/>
              </a:rPr>
              <a:t>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632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B8912E"/>
                </a:solidFill>
                <a:latin typeface="Noto Sans CJK KR"/>
                <a:ea typeface="Noto Sans CJK KR"/>
              </a:rPr>
              <a:t>반작용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6424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1C1C1C"/>
                </a:solidFill>
                <a:latin typeface="Noto Sans CJK KR"/>
                <a:ea typeface="Noto Sans CJK KR"/>
              </a:rPr>
              <a:t>살아난 게 아니라,</a:t>
            </a:r>
          </a:p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1C1C1C"/>
                </a:solidFill>
                <a:latin typeface="Noto Sans CJK KR"/>
                <a:ea typeface="Noto Sans CJK KR"/>
              </a:rPr>
              <a:t>이제야 보이는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6424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>
                <a:solidFill>
                  <a:srgbClr val="1C1C1C"/>
                </a:solidFill>
                <a:latin typeface="Noto Sans CJK KR"/>
                <a:ea typeface="Noto Sans CJK KR"/>
              </a:rPr>
              <a:t>궁금한 것부터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제품을 바꿔, 눈으로 확인한다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같은 모다발을 나눠, 조건은 하나만 — 그래야 차이가 제품의 것이 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02536" y="334670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027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PB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4296" y="334670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36027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이찌마루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06056" y="334670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6027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아모스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59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57815" y="334670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59" y="36027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시세이도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9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한 모다발 = 한 데이터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353312" y="3090672"/>
            <a:ext cx="1316736" cy="1316736"/>
          </a:xfrm>
          <a:prstGeom prst="ellipse">
            <a:avLst/>
          </a:prstGeom>
          <a:solidFill>
            <a:srgbClr val="F2F1ED"/>
          </a:solidFill>
          <a:ln w="1905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C1C"/>
                </a:solidFill>
                <a:latin typeface="Noto Sans CJK KR"/>
                <a:ea typeface="Noto Sans CJK KR"/>
              </a:rPr>
              <a:t>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Noto Sans CJK KR"/>
                <a:ea typeface="Noto Sans CJK KR"/>
              </a:rPr>
              <a:t>모질·손상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70048" y="3749039"/>
            <a:ext cx="1243584" cy="0"/>
          </a:xfrm>
          <a:prstGeom prst="line">
            <a:avLst/>
          </a:prstGeom>
          <a:ln w="2032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913632" y="3090672"/>
            <a:ext cx="1316736" cy="1316736"/>
          </a:xfrm>
          <a:prstGeom prst="ellipse">
            <a:avLst/>
          </a:prstGeom>
          <a:solidFill>
            <a:srgbClr val="F2F1ED"/>
          </a:solidFill>
          <a:ln w="1905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C1C"/>
                </a:solidFill>
                <a:latin typeface="Noto Sans CJK KR"/>
                <a:ea typeface="Noto Sans CJK KR"/>
              </a:rPr>
              <a:t>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Noto Sans CJK KR"/>
                <a:ea typeface="Noto Sans CJK KR"/>
              </a:rPr>
              <a:t>제품·온도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30368" y="3749039"/>
            <a:ext cx="1243584" cy="0"/>
          </a:xfrm>
          <a:prstGeom prst="line">
            <a:avLst/>
          </a:prstGeom>
          <a:ln w="2032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73952" y="3090672"/>
            <a:ext cx="1316736" cy="1316736"/>
          </a:xfrm>
          <a:prstGeom prst="ellipse">
            <a:avLst/>
          </a:prstGeom>
          <a:solidFill>
            <a:srgbClr val="F2F1ED"/>
          </a:solidFill>
          <a:ln w="1905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C1C"/>
                </a:solidFill>
                <a:latin typeface="Noto Sans CJK KR"/>
                <a:ea typeface="Noto Sans CJK KR"/>
              </a:rPr>
              <a:t>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Noto Sans CJK KR"/>
                <a:ea typeface="Noto Sans CJK KR"/>
              </a:rPr>
              <a:t>비교 사진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90688" y="3749039"/>
            <a:ext cx="1243584" cy="0"/>
          </a:xfrm>
          <a:prstGeom prst="line">
            <a:avLst/>
          </a:prstGeom>
          <a:ln w="2032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34272" y="3090672"/>
            <a:ext cx="1316736" cy="1316736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CJK KR"/>
                <a:ea typeface="Noto Sans CJK KR"/>
              </a:rPr>
              <a:t>다음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Noto Sans CJK KR"/>
                <a:ea typeface="Noto Sans CJK KR"/>
              </a:rPr>
              <a:t>바꿀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291840" y="4297680"/>
            <a:ext cx="5596128" cy="0"/>
          </a:xfrm>
          <a:prstGeom prst="line">
            <a:avLst/>
          </a:prstGeom>
          <a:ln w="1778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982919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96888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75934" y="3170224"/>
            <a:ext cx="427939" cy="674827"/>
          </a:xfrm>
          <a:prstGeom prst="roundRect">
            <a:avLst>
              <a:gd name="adj" fmla="val 22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530291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303873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43016" y="2725826"/>
            <a:ext cx="493776" cy="493776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1">
                <a:solidFill>
                  <a:srgbClr val="1C1C1C"/>
                </a:solidFill>
                <a:latin typeface="Noto Sans CJK KR"/>
                <a:ea typeface="Noto Sans CJK KR"/>
              </a:rPr>
              <a:t>쪼갤수록, 쉬워진다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