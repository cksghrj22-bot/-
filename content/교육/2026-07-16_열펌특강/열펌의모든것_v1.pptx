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오프닝. 화면엔 '열펌'이 쪼개진 그림뿐. '오늘 우리는 이걸 쪼갤 겁니다'로 시작. 워드월 QR은 이 직전에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공부는 분해에서 시작한다. 오늘은 하나를 깊게 파는 날이 아니라, 브레인스토밍처럼 넓게 몇 가지를 집어보는 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펌이란 무엇인가, 열은 왜 필요한가부터 묻는다. 롤러볼의 간접열과 판이 직접 닿는 디지털·세팅의 열은 같은 열인가? 쪼개보기 전엔 답할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40~55도 저온 구간은 수분과 시간이 일하는 구간. 100도를 넘으면 수분을 날리며 형태를 굳힌다. 140도부터는 단백질 변형이 시작된다. 열펌은 열로 사람을 편하게 만드는 시술 — 열은 적이 아니라 도구다.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성희 부원장의 해석 사례. 열펌제 = 연화제+환원제. 팩(점증 성분)이 과연화를 막는 브레이크라 꾸덕한 것. 환원제가 결합을 풀어 부드럽게, 그러나 과하지 않게 컬을 만든다. 남의 약도 이렇게 분해하면 내 것이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크림 타입은 침투제가 많고 머리를 녹이는(연화) 약 — 강한 곱슬·건강모에 유리. 겔·액체 타입은 녹이지 못하는 대신 섬세한 컨트롤 — 손상모에 유리. 좋은 약은 없다, 맞는 약이 있을 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이론 텍스트가 아니라 그림으로 보여줄 장. 옛날부터 쓰던 곱슬 모양표 + 연화·볼륨이 줄면서 사람 이미지가 달라지는 표. 핀터레스트 스타일 이미지로 채우기.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 분해해 봤으면 다시 돌아온다. 미용은 왜 하는가. 예뻐지려고, 손질이 편해지려고 — 이 두 가지를 절대 잊으면 안 된다. 펌은 이 둘을 벗어난 적이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펌 기술은 6개월이면 는다 — 선생님이 어떻게 말고 약 쓰는지 보면. 진짜 어려운 건 ①이 모발이 어느 손상까지 버티며 컬이 나올지 읽는 눈 — 전 과정을 이론으로 쥐고 있어야 어디서 실수했는지 찾는다. 바늘구멍에 넣듯 나를 피드백하라. ②무드를 보는 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부스스한 게 나쁜 건가? 아니다. 부스스함은 부스스함일 뿐. 그게 어울리는 사람(여원)이 있고, 직선이 어울리는 사람(윤하)이 있다. 나쁜 건 부스스함이 아니라 안 맞는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상담 스토리로. '고객님은 이목구비가 깔끔해서 직선이 어울리는데, 매직은 왜 싫으세요?' '볼륨이 죽어서요.' '그럼 30도만 펴 드릴게요 — 깔끔함은 살고 볼륨도 사는 매직이 있습니다.' 매직이면 매직, 펌이면 펌이 아니라 그 사이의 무수한 점을 보는 디자이너가 펌을 파는 디자이너다. 이목구비·옷·모질·눈매까지 보고 제안한다.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C컬을 만들 때, 접힐 자리를 커트로 얇게 걷어내면 열 100의 힘이 아니라 50의 힘으로 같은 컬이 나온다. 손상은 절반, 컬은 그대로. 약도 약하게 쓸 수 있다. 커트는 펌의 보조가 아니라 절반이다.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커트로 걷어내면 컬이 잘 접힌다(작용). 너무 걷어내면 부스스해진다(반작용). 모든 가위질에는 작용과 반작용이 있다 — 매 커트마다 무엇을 취하고 무엇을 버릴지 생각해야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'커트하니 펌이 살아났어요'가 아니다. 펌이 인간인가, 살아나게. 이제야 '보이는' 거다. 검은 바탕 위 검은 줄은 안 보인다. 바탕이 밝아질수록 보인다. 공간이 생겨야 컬이 보인다. 강하게 말았는데 금방 풀려 보이는 머리는 펌이 없는 게 아니라 공간이 없는 것 — 손님 잘못이 아니라 디자이너 잘못이다.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클로징. 워드월로 돌아가 '지금 다시 쓰면 열펌이란 무엇인가' 한 번 더. 이후 Q&amp;A, 그리고 이번 과정의 확인은 모다발 테스트. 숙제: 배운 점 정리 + 모다발 실습 비교 사진 PDF(조건 1개만 바꿔 비교).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21120000">
            <a:off x="2011680" y="18288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0" b="1">
                <a:solidFill>
                  <a:srgbClr val="F0EBE0"/>
                </a:solidFill>
                <a:latin typeface="Apple SD Gothic Neo"/>
                <a:ea typeface="Apple SD Gothic Neo"/>
              </a:rPr>
              <a:t>열</a:t>
            </a:r>
          </a:p>
        </p:txBody>
      </p:sp>
      <p:sp>
        <p:nvSpPr>
          <p:cNvPr id="4" name="TextBox 3"/>
          <p:cNvSpPr txBox="1"/>
          <p:nvPr/>
        </p:nvSpPr>
        <p:spPr>
          <a:xfrm rot="420000">
            <a:off x="6766560" y="201168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0" b="1">
                <a:solidFill>
                  <a:srgbClr val="F0EBE0"/>
                </a:solidFill>
                <a:latin typeface="Apple SD Gothic Neo"/>
                <a:ea typeface="Apple SD Gothic Neo"/>
              </a:rPr>
              <a:t>펌</a:t>
            </a:r>
          </a:p>
        </p:txBody>
      </p:sp>
      <p:sp>
        <p:nvSpPr>
          <p:cNvPr id="5" name="Freeform 4"/>
          <p:cNvSpPr/>
          <p:nvPr/>
        </p:nvSpPr>
        <p:spPr>
          <a:xfrm>
            <a:off x="5943600" y="1280160"/>
            <a:ext cx="411480" cy="4114800"/>
          </a:xfrm>
          <a:custGeom>
            <a:avLst/>
            <a:gdLst/>
            <a:ahLst/>
            <a:cxnLst/>
            <a:rect l="l" t="t" r="r" b="b"/>
            <a:pathLst>
              <a:path w="411480" h="4114800">
                <a:moveTo>
                  <a:pt x="45720" y="0"/>
                </a:moveTo>
                <a:lnTo>
                  <a:pt x="320040" y="1005840"/>
                </a:lnTo>
                <a:lnTo>
                  <a:pt x="0" y="1737360"/>
                </a:lnTo>
                <a:lnTo>
                  <a:pt x="411480" y="2468879"/>
                </a:lnTo>
                <a:lnTo>
                  <a:pt x="91440" y="3291840"/>
                </a:lnTo>
                <a:lnTo>
                  <a:pt x="411480" y="4114800"/>
                </a:lnTo>
              </a:path>
            </a:pathLst>
          </a:custGeom>
          <a:noFill/>
          <a:ln w="50800">
            <a:solidFill>
              <a:srgbClr val="DFC5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594360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DFC57E"/>
                </a:solidFill>
                <a:latin typeface="Apple SD Gothic Neo"/>
                <a:ea typeface="Apple SD Gothic Neo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FC57E"/>
                </a:solidFill>
                <a:latin typeface="Apple SD Gothic Neo"/>
                <a:ea typeface="Apple SD Gothic Neo"/>
              </a:rPr>
              <a:t>열펌의 모든 것 — 분해하다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차노 · 2026. 7.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DFC57E"/>
                </a:solidFill>
                <a:latin typeface="Apple SD Gothic Neo"/>
                <a:ea typeface="Apple SD Gothic Neo"/>
              </a:rPr>
              <a:t>공부한다 = 분해한다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DFC57E"/>
                </a:solidFill>
                <a:latin typeface="Apple SD Gothic Neo"/>
                <a:ea typeface="Apple SD Gothic Neo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0EBE0"/>
                </a:solidFill>
                <a:latin typeface="Apple SD Gothic Neo"/>
                <a:ea typeface="Apple SD Gothic Neo"/>
              </a:rPr>
              <a:t>분해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49039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열과 약을 쪼개본다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9456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DFC57E"/>
                </a:solidFill>
                <a:latin typeface="Apple SD Gothic Neo"/>
                <a:ea typeface="Apple SD Gothic Neo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0EBE0"/>
                </a:solidFill>
                <a:latin typeface="Apple SD Gothic Neo"/>
                <a:ea typeface="Apple SD Gothic Neo"/>
              </a:rPr>
              <a:t>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39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그래서, 펌은 왜 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DFC57E"/>
                </a:solidFill>
                <a:latin typeface="Apple SD Gothic Neo"/>
                <a:ea typeface="Apple SD Gothic Neo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0EBE0"/>
                </a:solidFill>
                <a:latin typeface="Apple SD Gothic Neo"/>
                <a:ea typeface="Apple SD Gothic Neo"/>
              </a:rPr>
              <a:t>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39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펌을 돕는 절반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9456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46888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DFC57E"/>
                </a:solidFill>
                <a:latin typeface="Apple SD Gothic Neo"/>
                <a:ea typeface="Apple SD Gothic Neo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0EBE0"/>
                </a:solidFill>
                <a:latin typeface="Apple SD Gothic Neo"/>
                <a:ea typeface="Apple SD Gothic Neo"/>
              </a:rPr>
              <a:t>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49039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Q&amp;A · 모다발 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쪼개봐야 내 것이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0EBE0"/>
                </a:solidFill>
                <a:latin typeface="Apple SD Gothic Neo"/>
                <a:ea typeface="Apple SD Gothic Neo"/>
              </a:rPr>
              <a:t>펌이란 무엇인가?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0EBE0"/>
                </a:solidFill>
                <a:latin typeface="Apple SD Gothic Neo"/>
                <a:ea typeface="Apple SD Gothic Neo"/>
              </a:rPr>
              <a:t>열은 왜 필요한가?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DFC57E"/>
                </a:solidFill>
                <a:latin typeface="Apple SD Gothic Neo"/>
                <a:ea typeface="Apple SD Gothic Neo"/>
              </a:rPr>
              <a:t>롤러볼의 열과, 판이 직접 닿는 열은</a:t>
            </a:r>
          </a:p>
          <a:p>
            <a:pPr algn="l">
              <a:lnSpc>
                <a:spcPct val="100000"/>
              </a:lnSpc>
            </a:pPr>
            <a:r>
              <a:rPr sz="2600" b="0">
                <a:solidFill>
                  <a:srgbClr val="DFC57E"/>
                </a:solidFill>
                <a:latin typeface="Apple SD Gothic Neo"/>
                <a:ea typeface="Apple SD Gothic Neo"/>
              </a:rPr>
              <a:t>같은 열인가?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① 분해 — 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열마다 하는 일이 다릅니다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34640"/>
            <a:ext cx="10332720" cy="201168"/>
          </a:xfrm>
          <a:prstGeom prst="rect">
            <a:avLst/>
          </a:prstGeom>
          <a:solidFill>
            <a:srgbClr val="2C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779776"/>
            <a:ext cx="3513124" cy="310896"/>
          </a:xfrm>
          <a:prstGeom prst="rect">
            <a:avLst/>
          </a:prstGeom>
          <a:solidFill>
            <a:srgbClr val="A9BC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51312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A9BCA4"/>
                </a:solidFill>
                <a:latin typeface="Apple SD Gothic Neo"/>
                <a:ea typeface="Apple SD Gothic Neo"/>
              </a:rPr>
              <a:t>40~55°C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35131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수분과 시간이 일하는 구간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(저온 세팅·건강한 물결)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0833" y="2779776"/>
            <a:ext cx="3099816" cy="310896"/>
          </a:xfrm>
          <a:prstGeom prst="rect">
            <a:avLst/>
          </a:prstGeom>
          <a:solidFill>
            <a:srgbClr val="DFC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0833" y="1920240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DFC57E"/>
                </a:solidFill>
                <a:latin typeface="Apple SD Gothic Neo"/>
                <a:ea typeface="Apple SD Gothic Neo"/>
              </a:rPr>
              <a:t>100°C+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833" y="3337560"/>
            <a:ext cx="309981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수분을 날리며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형태를 굳히는 구간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53958" y="2779776"/>
            <a:ext cx="2893161" cy="310896"/>
          </a:xfrm>
          <a:prstGeom prst="rect">
            <a:avLst/>
          </a:prstGeom>
          <a:solidFill>
            <a:srgbClr val="C87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3958" y="1920240"/>
            <a:ext cx="289316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C87B6B"/>
                </a:solidFill>
                <a:latin typeface="Apple SD Gothic Neo"/>
                <a:ea typeface="Apple SD Gothic Neo"/>
              </a:rPr>
              <a:t>140°C~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958" y="3337560"/>
            <a:ext cx="289316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단백질 변형이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시작되는 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열펌 = 열로 사람을 편하게 만드는 시술.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열은 적이 아니라 도구입니다.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① 분해 — 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약도 쪼개집니다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DFC57E"/>
                </a:solidFill>
                <a:latin typeface="Apple SD Gothic Neo"/>
                <a:ea typeface="Apple SD Gothic Neo"/>
              </a:rPr>
              <a:t>연화제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머리를 부드럽게 여는 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3464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A8FA0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031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A9BCA4"/>
                </a:solidFill>
                <a:latin typeface="Apple SD Gothic Neo"/>
                <a:ea typeface="Apple SD Gothic Neo"/>
              </a:rPr>
              <a:t>팩 · 점증 성분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10896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과연화를 막는 브레이크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(약이 꾸덕한 진짜 이유)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834640"/>
            <a:ext cx="457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A8FA0"/>
                </a:solidFill>
                <a:latin typeface="Apple SD Gothic Neo"/>
                <a:ea typeface="Apple SD Gothic Neo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031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87B6B"/>
                </a:solidFill>
                <a:latin typeface="Apple SD Gothic Neo"/>
                <a:ea typeface="Apple SD Gothic Neo"/>
              </a:rPr>
              <a:t>환원제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0896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결합을 풀어</a:t>
            </a:r>
          </a:p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컬을 만드는 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남의 해석도 분해해 보면 내 것이 됩니다.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외우는 약은 남의 약, 쪼개본 약이 내 약입니다.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① 분해 — 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크림이냐, 겔이냐가 아니라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0EBE0"/>
                </a:solidFill>
                <a:latin typeface="Apple SD Gothic Neo"/>
                <a:ea typeface="Apple SD Gothic Neo"/>
              </a:rPr>
              <a:t>크림 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침투제가 풍부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녹이는 힘(연화력)이 강함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→ 강한 곱슬 · 건강모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0EBE0"/>
                </a:solidFill>
                <a:latin typeface="Apple SD Gothic Neo"/>
                <a:ea typeface="Apple SD Gothic Neo"/>
              </a:rPr>
              <a:t>겔 · 액체 타입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녹이지 못하는 대신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섬세하게 컨트롤</a:t>
            </a:r>
          </a:p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A8FA0"/>
                </a:solidFill>
                <a:latin typeface="Apple SD Gothic Neo"/>
                <a:ea typeface="Apple SD Gothic Neo"/>
              </a:rPr>
              <a:t>→ 손상모 · 미세 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좋은 약은 없습니다. 이 모발에 맞는 약이 있을 뿐입니다.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① 분해 — 곱슬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말이 아니라, 그림으로 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365760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5240">
            <a:solidFill>
              <a:srgbClr val="8A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37559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📷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곱슬 모양표 넣기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(기존 곱슬 특성표)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365760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5240">
            <a:solidFill>
              <a:srgbClr val="8A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337559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📷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연화·볼륨 변화에 따라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이미지가 달라지는 표 넣기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②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DFC57E"/>
                </a:solidFill>
                <a:latin typeface="Apple SD Gothic Neo"/>
                <a:ea typeface="Apple SD Gothic Neo"/>
              </a:rPr>
              <a:t>그래서, 미용은 왜 할까요?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F0EBE0"/>
                </a:solidFill>
                <a:latin typeface="Apple SD Gothic Neo"/>
                <a:ea typeface="Apple SD Gothic Neo"/>
              </a:rPr>
              <a:t>예뻐지려고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51760"/>
            <a:ext cx="5120640" cy="17373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06324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F0EBE0"/>
                </a:solidFill>
                <a:latin typeface="Apple SD Gothic Neo"/>
                <a:ea typeface="Apple SD Gothic Neo"/>
              </a:rPr>
              <a:t>손질이 편해지려고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8A8FA0"/>
                </a:solidFill>
                <a:latin typeface="Apple SD Gothic Neo"/>
                <a:ea typeface="Apple SD Gothic Neo"/>
              </a:rPr>
              <a:t>이 두 가지를 절대 잊지 않습니다.</a:t>
            </a:r>
          </a:p>
          <a:p>
            <a:pPr algn="l">
              <a:lnSpc>
                <a:spcPct val="100000"/>
              </a:lnSpc>
            </a:pPr>
            <a:r>
              <a:rPr sz="2400" b="0">
                <a:solidFill>
                  <a:srgbClr val="8A8FA0"/>
                </a:solidFill>
                <a:latin typeface="Apple SD Gothic Neo"/>
                <a:ea typeface="Apple SD Gothic Neo"/>
              </a:rPr>
              <a:t>펌은 이 둘을 벗어난 적이 없습니다.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② 회귀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펌 기술은 6개월이면 늡니다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8FA0"/>
                </a:solidFill>
                <a:latin typeface="Apple SD Gothic Neo"/>
                <a:ea typeface="Apple SD Gothic Neo"/>
              </a:rPr>
              <a:t>진짜 실력은 두 가지에서 갈립니다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5120640" cy="28346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FC57E"/>
                </a:solidFill>
                <a:latin typeface="Apple SD Gothic Neo"/>
                <a:ea typeface="Apple SD Gothic Neo"/>
              </a:rPr>
              <a:t>① 손상을 읽는 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이 모발이 어디까지 버티고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컬이 나올지 아는 것.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전 과정을 이론으로 쥐고 있어야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실수한 지점을 찾아냅니다.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— 바늘구멍에 넣듯 나를 피드백.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120640" cy="28346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FC57E"/>
                </a:solidFill>
                <a:latin typeface="Apple SD Gothic Neo"/>
                <a:ea typeface="Apple SD Gothic Neo"/>
              </a:rPr>
              <a:t>② 무드를 보는 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컬이 생기면 어떤 무드가 되는가.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매직이면, 윤기 나면,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부스스하면 어떤 무드가 되는가.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EBE0"/>
                </a:solidFill>
                <a:latin typeface="Apple SD Gothic Neo"/>
                <a:ea typeface="Apple SD Gothic Neo"/>
              </a:rPr>
              <a:t>기술이 아니라 사람을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② 회귀 — 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부스스함은 부스스함일 뿐입니다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5240">
            <a:solidFill>
              <a:srgbClr val="8A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📷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여원 사진 넣기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(부스스함이 무드가 되는 사람)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5240">
            <a:solidFill>
              <a:srgbClr val="8A8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31546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📷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윤하 사진 넣기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(직선이 어울리는 사람)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0EBE0"/>
                </a:solidFill>
                <a:latin typeface="Apple SD Gothic Neo"/>
                <a:ea typeface="Apple SD Gothic Neo"/>
              </a:rPr>
              <a:t>나쁜 건 부스스함이 아니라, 안 맞는 것입니다.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② 회귀 —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매직과 펌은 끝과 끝이 아닙니다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63040" y="3108960"/>
            <a:ext cx="9235440" cy="0"/>
          </a:xfrm>
          <a:prstGeom prst="line">
            <a:avLst/>
          </a:prstGeom>
          <a:ln w="38100">
            <a:solidFill>
              <a:srgbClr val="2C2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88036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0EBE0"/>
                </a:solidFill>
                <a:latin typeface="Apple SD Gothic Neo"/>
                <a:ea typeface="Apple SD Gothic Neo"/>
              </a:rPr>
              <a:t>매직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288036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0EBE0"/>
                </a:solidFill>
                <a:latin typeface="Apple SD Gothic Neo"/>
                <a:ea typeface="Apple SD Gothic Neo"/>
              </a:rPr>
              <a:t>펌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036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3192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83479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8660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59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9719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0" y="3044952"/>
            <a:ext cx="128016" cy="128016"/>
          </a:xfrm>
          <a:prstGeom prst="ellipse">
            <a:avLst/>
          </a:prstGeom>
          <a:solidFill>
            <a:srgbClr val="8A8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40" y="2935224"/>
            <a:ext cx="347472" cy="347472"/>
          </a:xfrm>
          <a:prstGeom prst="ellipse">
            <a:avLst/>
          </a:prstGeom>
          <a:solidFill>
            <a:srgbClr val="DFC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520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FC57E"/>
                </a:solidFill>
                <a:latin typeface="Apple SD Gothic Neo"/>
                <a:ea typeface="Apple SD Gothic Neo"/>
              </a:rPr>
              <a:t>"30도만 펴 드릴게요"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0EBE0"/>
                </a:solidFill>
                <a:latin typeface="Apple SD Gothic Neo"/>
                <a:ea typeface="Apple SD Gothic Neo"/>
              </a:rPr>
              <a:t>그 사이의 무수한 점을 보는 사람이 펌을 파는 디자이너입니다.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F0EBE0"/>
                </a:solidFill>
                <a:latin typeface="Apple SD Gothic Neo"/>
                <a:ea typeface="Apple SD Gothic Neo"/>
              </a:rPr>
              <a:t>이목구비 · 옷 · 모질 · 눈매까지 보고, 왜 이 점인지까지 제안합니다.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③ 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FC57E"/>
                </a:solidFill>
                <a:latin typeface="Apple SD Gothic Neo"/>
                <a:ea typeface="Apple SD Gothic Neo"/>
              </a:rPr>
              <a:t>커트가 펌을 돕습니다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8FA0"/>
                </a:solidFill>
                <a:latin typeface="Apple SD Gothic Neo"/>
                <a:ea typeface="Apple SD Gothic Neo"/>
              </a:rPr>
              <a:t>커트 없이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C87B6B"/>
                </a:solidFill>
                <a:latin typeface="Apple SD Gothic Neo"/>
                <a:ea typeface="Apple SD Gothic Neo"/>
              </a:rPr>
              <a:t>열 100의 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A8FA0"/>
                </a:solidFill>
                <a:latin typeface="Apple SD Gothic Neo"/>
                <a:ea typeface="Apple SD Gothic Neo"/>
              </a:rPr>
              <a:t>같은 C컬 · 손상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3774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A8FA0"/>
                </a:solidFill>
                <a:latin typeface="Apple SD Gothic Neo"/>
                <a:ea typeface="Apple SD Gothic Neo"/>
              </a:rPr>
              <a:t>접힐 자리를 걷어내면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175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A9BCA4"/>
                </a:solidFill>
                <a:latin typeface="Apple SD Gothic Neo"/>
                <a:ea typeface="Apple SD Gothic Neo"/>
              </a:rPr>
              <a:t>열 50의 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A8FA0"/>
                </a:solidFill>
                <a:latin typeface="Apple SD Gothic Neo"/>
                <a:ea typeface="Apple SD Gothic Neo"/>
              </a:rPr>
              <a:t>같은 C컬 · 손상 절반 · 약도 순하게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커트는 펌의 보조가 아니라 절반입니다.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③ 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FC57E"/>
                </a:solidFill>
                <a:latin typeface="Apple SD Gothic Neo"/>
                <a:ea typeface="Apple SD Gothic Neo"/>
              </a:rPr>
              <a:t>모든 가위질엔 작용과 반작용이 있습니다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A9BCA4"/>
                </a:solidFill>
                <a:latin typeface="Apple SD Gothic Neo"/>
                <a:ea typeface="Apple SD Gothic Neo"/>
              </a:rPr>
              <a:t>작용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0EBE0"/>
                </a:solidFill>
                <a:latin typeface="Apple SD Gothic Neo"/>
                <a:ea typeface="Apple SD Gothic Neo"/>
              </a:rPr>
              <a:t>걷어내면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0EBE0"/>
                </a:solidFill>
                <a:latin typeface="Apple SD Gothic Neo"/>
                <a:ea typeface="Apple SD Gothic Neo"/>
              </a:rPr>
              <a:t>컬이 잘 접힙니다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1A1A22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C87B6B"/>
                </a:solidFill>
                <a:latin typeface="Apple SD Gothic Neo"/>
                <a:ea typeface="Apple SD Gothic Neo"/>
              </a:rPr>
              <a:t>반작용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0EBE0"/>
                </a:solidFill>
                <a:latin typeface="Apple SD Gothic Neo"/>
                <a:ea typeface="Apple SD Gothic Neo"/>
              </a:rPr>
              <a:t>너무 걷어내면</a:t>
            </a:r>
          </a:p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0EBE0"/>
                </a:solidFill>
                <a:latin typeface="Apple SD Gothic Neo"/>
                <a:ea typeface="Apple SD Gothic Neo"/>
              </a:rPr>
              <a:t>부스스해집니다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매 커트마다 묻습니다.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F0EBE0"/>
                </a:solidFill>
                <a:latin typeface="Apple SD Gothic Neo"/>
                <a:ea typeface="Apple SD Gothic Neo"/>
              </a:rPr>
              <a:t>무엇을 얻고, 무엇을 버릴 것인가.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FC57E"/>
                </a:solidFill>
                <a:latin typeface="Apple SD Gothic Neo"/>
                <a:ea typeface="Apple SD Gothic Neo"/>
              </a:rPr>
              <a:t>③ 커트 — 공간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FC57E"/>
                </a:solidFill>
                <a:latin typeface="Apple SD Gothic Neo"/>
                <a:ea typeface="Apple SD Gothic Neo"/>
              </a:rPr>
              <a:t>살아난 게 아니라, 이제야 보이는 겁니다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194560"/>
            <a:ext cx="4206240" cy="2651760"/>
          </a:xfrm>
          <a:prstGeom prst="rect">
            <a:avLst/>
          </a:prstGeom>
          <a:solidFill>
            <a:srgbClr val="0A0A0C"/>
          </a:solidFill>
          <a:ln w="12700">
            <a:solidFill>
              <a:srgbClr val="2C2C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737360" y="2926080"/>
            <a:ext cx="914400" cy="1188720"/>
          </a:xfrm>
          <a:prstGeom prst="blockArc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971800" y="2926080"/>
            <a:ext cx="914400" cy="1188720"/>
          </a:xfrm>
          <a:prstGeom prst="blockArc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4206240" y="2926080"/>
            <a:ext cx="914400" cy="1188720"/>
          </a:xfrm>
          <a:prstGeom prst="blockArc">
            <a:avLst/>
          </a:prstGeom>
          <a:solidFill>
            <a:srgbClr val="14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8A8FA0"/>
                </a:solidFill>
                <a:latin typeface="Apple SD Gothic Neo"/>
                <a:ea typeface="Apple SD Gothic Neo"/>
              </a:rPr>
              <a:t>공간이 없으면 — 컬이 안 보입니다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194560"/>
            <a:ext cx="4206240" cy="2651760"/>
          </a:xfrm>
          <a:prstGeom prst="rect">
            <a:avLst/>
          </a:prstGeom>
          <a:solidFill>
            <a:srgbClr val="6B6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ock Arc 10"/>
          <p:cNvSpPr/>
          <p:nvPr/>
        </p:nvSpPr>
        <p:spPr>
          <a:xfrm>
            <a:off x="7132320" y="2926080"/>
            <a:ext cx="914400" cy="1188720"/>
          </a:xfrm>
          <a:prstGeom prst="blockArc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lock Arc 11"/>
          <p:cNvSpPr/>
          <p:nvPr/>
        </p:nvSpPr>
        <p:spPr>
          <a:xfrm>
            <a:off x="8366760" y="2926080"/>
            <a:ext cx="914400" cy="1188720"/>
          </a:xfrm>
          <a:prstGeom prst="blockArc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lock Arc 12"/>
          <p:cNvSpPr/>
          <p:nvPr/>
        </p:nvSpPr>
        <p:spPr>
          <a:xfrm>
            <a:off x="9601200" y="2926080"/>
            <a:ext cx="914400" cy="1188720"/>
          </a:xfrm>
          <a:prstGeom prst="blockArc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9377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0EBE0"/>
                </a:solidFill>
                <a:latin typeface="Apple SD Gothic Neo"/>
                <a:ea typeface="Apple SD Gothic Neo"/>
              </a:rPr>
              <a:t>공간이 생기면 — 같은 컬이 보입니다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F0EBE0"/>
                </a:solidFill>
                <a:latin typeface="Apple SD Gothic Neo"/>
                <a:ea typeface="Apple SD Gothic Neo"/>
              </a:rPr>
              <a:t>펌이 금방 풀린 게 아니라 공간이 없었던 겁니다. 그건 디자이너의 몫입니다.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DFC57E"/>
                </a:solidFill>
                <a:latin typeface="Apple SD Gothic Neo"/>
                <a:ea typeface="Apple SD Gothic Neo"/>
              </a:rPr>
              <a:t>열펌은 분해할수록 쉬워지고,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DFC57E"/>
                </a:solidFill>
                <a:latin typeface="Apple SD Gothic Neo"/>
                <a:ea typeface="Apple SD Gothic Neo"/>
              </a:rPr>
              <a:t>사람을 볼수록 팔립니다.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A8FA0"/>
                </a:solidFill>
                <a:latin typeface="Apple SD Gothic Neo"/>
                <a:ea typeface="Apple SD Gothic Neo"/>
              </a:rPr>
              <a:t>다음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0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0EBE0"/>
                </a:solidFill>
                <a:latin typeface="Apple SD Gothic Neo"/>
                <a:ea typeface="Apple SD Gothic Neo"/>
              </a:rPr>
              <a:t>Q&amp;A  →  모다발 테스트 (이번 과정의 확인)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F0EBE0"/>
                </a:solidFill>
                <a:latin typeface="Apple SD Gothic Neo"/>
                <a:ea typeface="Apple SD Gothic Neo"/>
              </a:rPr>
              <a:t>숙제: 배운 점 정리 · 모다발 비교 사진 PDF (조건은 하나만 바꿔서)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FA0"/>
                </a:solidFill>
                <a:latin typeface="Apple SD Gothic Neo"/>
                <a:ea typeface="Apple SD Gothic Neo"/>
              </a:rPr>
              <a:t>AT NOWN 교육 · 열펌의 모든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