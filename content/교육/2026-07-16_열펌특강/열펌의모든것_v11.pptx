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펌은 왜 하는가 — 질문부터 쪼갠다. 강사가 '왜'를 던지고 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930798" y="3885285"/>
            <a:ext cx="0" cy="344729"/>
          </a:xfrm>
          <a:prstGeom prst="line">
            <a:avLst/>
          </a:prstGeom>
          <a:ln w="12700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249009" y="3885285"/>
            <a:ext cx="0" cy="344729"/>
          </a:xfrm>
          <a:prstGeom prst="line">
            <a:avLst/>
          </a:prstGeom>
          <a:ln w="12700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612587" y="3010204"/>
            <a:ext cx="954633" cy="875080"/>
          </a:xfrm>
          <a:prstGeom prst="roundRect">
            <a:avLst>
              <a:gd name="adj" fmla="val 45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H="1">
            <a:off x="5161788" y="3275380"/>
            <a:ext cx="450799" cy="185624"/>
          </a:xfrm>
          <a:prstGeom prst="line">
            <a:avLst/>
          </a:prstGeom>
          <a:ln w="12700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567220" y="2691993"/>
            <a:ext cx="477317" cy="583387"/>
          </a:xfrm>
          <a:prstGeom prst="line">
            <a:avLst/>
          </a:prstGeom>
          <a:ln w="12700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426964" y="1737360"/>
            <a:ext cx="1325880" cy="1325880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05957" y="2486482"/>
            <a:ext cx="145846" cy="145846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28003" y="2486482"/>
            <a:ext cx="145846" cy="145846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82299" y="2278319"/>
            <a:ext cx="164409" cy="16440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33099" y="2278319"/>
            <a:ext cx="164409" cy="16440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57316" y="2599182"/>
            <a:ext cx="265176" cy="928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452628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C1C1C"/>
                </a:solidFill>
                <a:latin typeface="Noto Sans CJK KR"/>
                <a:ea typeface="Noto Sans CJK KR"/>
              </a:rPr>
              <a:t>열펌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808080"/>
                </a:solidFill>
                <a:latin typeface="Noto Sans CJK KR"/>
                <a:ea typeface="Noto Sans CJK KR"/>
              </a:rPr>
              <a:t>차노 · 2026. 7. 16 · 앳나운플레이스 3F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펌은, 왜?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86000" y="2743200"/>
            <a:ext cx="3108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400" b="1">
                <a:solidFill>
                  <a:srgbClr val="1C1C1C"/>
                </a:solidFill>
                <a:latin typeface="Noto Sans CJK KR"/>
                <a:ea typeface="Noto Sans CJK KR"/>
              </a:rPr>
              <a:t>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9904" y="2743200"/>
            <a:ext cx="0" cy="2468880"/>
          </a:xfrm>
          <a:prstGeom prst="line">
            <a:avLst/>
          </a:prstGeom>
          <a:ln w="25400">
            <a:solidFill>
              <a:srgbClr val="B891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92240" y="2743200"/>
            <a:ext cx="3108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400" b="1">
                <a:solidFill>
                  <a:srgbClr val="B8912E"/>
                </a:solidFill>
                <a:latin typeface="Noto Sans CJK KR"/>
                <a:ea typeface="Noto Sans CJK KR"/>
              </a:rPr>
              <a:t>왜?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열펌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468880" y="265176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0" b="1">
                <a:solidFill>
                  <a:srgbClr val="1C1C1C"/>
                </a:solidFill>
                <a:latin typeface="Noto Sans CJK KR"/>
                <a:ea typeface="Noto Sans CJK KR"/>
              </a:rPr>
              <a:t>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0" y="2651760"/>
            <a:ext cx="0" cy="2560320"/>
          </a:xfrm>
          <a:prstGeom prst="line">
            <a:avLst/>
          </a:prstGeom>
          <a:ln w="25400">
            <a:solidFill>
              <a:srgbClr val="B891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0" y="265176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0" b="1">
                <a:solidFill>
                  <a:srgbClr val="1C1C1C"/>
                </a:solidFill>
                <a:latin typeface="Noto Sans CJK KR"/>
                <a:ea typeface="Noto Sans CJK KR"/>
              </a:rPr>
              <a:t>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4173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340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연화제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344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348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환원제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모질 · 손상도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103120" y="301752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369417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모질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01752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66175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69417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손상도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제품 · 점성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4173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340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크림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344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에멀전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348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커트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103120" y="301752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369417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접는 커트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01752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66175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69417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공간을 만드는 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모다발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103120" y="310896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352958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378561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모다발 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10896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66175" y="352958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78561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모다발 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23079" y="2731312"/>
            <a:ext cx="1303934" cy="1303934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14259" y="3206617"/>
            <a:ext cx="143012" cy="1430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292821" y="3206617"/>
            <a:ext cx="143012" cy="1430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22468" y="3530498"/>
            <a:ext cx="105155" cy="10515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52794" y="2731312"/>
            <a:ext cx="1303934" cy="1303934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43974" y="3206617"/>
            <a:ext cx="143012" cy="1430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22535" y="3206617"/>
            <a:ext cx="143012" cy="1430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952183" y="3530498"/>
            <a:ext cx="105155" cy="10515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089904" y="2499969"/>
            <a:ext cx="0" cy="1766621"/>
          </a:xfrm>
          <a:prstGeom prst="line">
            <a:avLst/>
          </a:prstGeom>
          <a:ln w="25400">
            <a:solidFill>
              <a:srgbClr val="B891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296994" y="3383280"/>
            <a:ext cx="391180" cy="0"/>
          </a:xfrm>
          <a:prstGeom prst="line">
            <a:avLst/>
          </a:prstGeom>
          <a:ln w="25400">
            <a:solidFill>
              <a:srgbClr val="B891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91633" y="3383280"/>
            <a:ext cx="391180" cy="0"/>
          </a:xfrm>
          <a:prstGeom prst="line">
            <a:avLst/>
          </a:prstGeom>
          <a:ln w="25400">
            <a:solidFill>
              <a:srgbClr val="B891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466344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500" b="1">
                <a:solidFill>
                  <a:srgbClr val="1C1C1C"/>
                </a:solidFill>
                <a:latin typeface="Noto Sans CJK KR"/>
                <a:ea typeface="Noto Sans CJK KR"/>
              </a:rPr>
              <a:t>쪼갤수록, 쉬워진다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